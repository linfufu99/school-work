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10" r:id="rId5"/>
    <p:sldId id="311" r:id="rId6"/>
    <p:sldId id="312" r:id="rId7"/>
    <p:sldId id="264" r:id="rId8"/>
    <p:sldId id="316" r:id="rId9"/>
    <p:sldId id="313" r:id="rId10"/>
    <p:sldId id="322" r:id="rId11"/>
    <p:sldId id="323" r:id="rId12"/>
    <p:sldId id="324" r:id="rId13"/>
    <p:sldId id="363" r:id="rId14"/>
    <p:sldId id="325" r:id="rId15"/>
    <p:sldId id="364" r:id="rId16"/>
    <p:sldId id="327" r:id="rId17"/>
    <p:sldId id="348" r:id="rId18"/>
    <p:sldId id="349"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76" autoAdjust="0"/>
    <p:restoredTop sz="89798" autoAdjust="0"/>
  </p:normalViewPr>
  <p:slideViewPr>
    <p:cSldViewPr snapToGrid="0" showGuides="1">
      <p:cViewPr varScale="1">
        <p:scale>
          <a:sx n="58" d="100"/>
          <a:sy n="58" d="100"/>
        </p:scale>
        <p:origin x="-102" y="-1578"/>
      </p:cViewPr>
      <p:guideLst>
        <p:guide orient="horz" pos="2168"/>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gs" Target="tags/tag25.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FBCF8F7-4663-4308-96DF-AB344009EE6A}" type="doc">
      <dgm:prSet/>
      <dgm:spPr/>
      <dgm:t>
        <a:bodyPr/>
        <a:p>
          <a:endParaRPr altLang="en-US"/>
        </a:p>
      </dgm:t>
    </dgm:pt>
    <dgm:pt modelId="{11D657EF-EA83-4CB4-A74A-6A0E1C6139E1}">
      <dgm:prSet/>
      <dgm:spPr/>
      <dgm:t>
        <a:bodyPr/>
        <a:p>
          <a:r>
            <a:rPr lang="zh-CN" b="0" i="0" u="none" baseline="0">
              <a:rtl val="0"/>
            </a:rPr>
            <a:t>《论持久战》全文5万余字，共计约120个自然段，共分为两大部分21个问题。</a:t>
          </a:r>
          <a:endParaRPr altLang="en-US"/>
        </a:p>
      </dgm:t>
    </dgm:pt>
    <dgm:pt modelId="{CF5676F1-67EB-4261-97BB-C0CC5F90DFFC}" cxnId="{A1DFF977-A782-4BA0-8B2B-848931DCB8DC}" type="parTrans">
      <dgm:prSet/>
      <dgm:spPr/>
    </dgm:pt>
    <dgm:pt modelId="{DC02820D-A56F-4D90-AF2D-466FBB5F7369}" cxnId="{A1DFF977-A782-4BA0-8B2B-848931DCB8DC}" type="sibTrans">
      <dgm:prSet/>
      <dgm:spPr/>
    </dgm:pt>
    <dgm:pt modelId="{2F752A0E-9C07-4022-B7CA-401E03D1783D}">
      <dgm:prSet phldr="0" custT="0"/>
      <dgm:spPr/>
      <dgm:t>
        <a:bodyPr vert="horz" wrap="square"/>
        <a:p>
          <a:pPr>
            <a:lnSpc>
              <a:spcPct val="100000"/>
            </a:lnSpc>
            <a:spcBef>
              <a:spcPct val="0"/>
            </a:spcBef>
            <a:spcAft>
              <a:spcPct val="35000"/>
            </a:spcAft>
          </a:pPr>
          <a:r>
            <a:rPr lang="zh-CN" b="0" i="0" u="none" baseline="0">
              <a:rtl val="0"/>
            </a:rPr>
            <a:t>前9个问题主要说明抗日战争为什么是持久战，为什么最后胜利是中国的，批判了“亡国论”和“速胜论”</a:t>
          </a:r>
          <a:r>
            <a:rPr altLang="en-US"/>
            <a:t/>
          </a:r>
          <a:endParaRPr altLang="en-US"/>
        </a:p>
      </dgm:t>
    </dgm:pt>
    <dgm:pt modelId="{8A3C1A4C-36DC-49BE-B019-17BC83825E45}" cxnId="{BF5DF2A8-A789-4080-834F-BF899A2EDDA6}" type="parTrans">
      <dgm:prSet/>
      <dgm:spPr/>
    </dgm:pt>
    <dgm:pt modelId="{0BC9E8BB-5D86-4F91-8C85-B7DC563369C9}" cxnId="{BF5DF2A8-A789-4080-834F-BF899A2EDDA6}" type="sibTrans">
      <dgm:prSet/>
      <dgm:spPr/>
    </dgm:pt>
    <dgm:pt modelId="{A334D1A5-C42A-4ADF-8491-F055D3F059C4}">
      <dgm:prSet/>
      <dgm:spPr/>
      <dgm:t>
        <a:bodyPr/>
        <a:p>
          <a:r>
            <a:rPr lang="zh-CN" b="0" i="0" u="none" baseline="0">
              <a:rtl val="0"/>
            </a:rPr>
            <a:t>后12个问题主要说明怎样进行持久战和怎样争取最后胜利，着重论述了人民战争的战略战术。</a:t>
          </a:r>
          <a:endParaRPr altLang="en-US"/>
        </a:p>
      </dgm:t>
    </dgm:pt>
    <dgm:pt modelId="{EBA363AF-1DE2-4D93-8143-EB53160AECFA}" cxnId="{2BE28E67-E4D0-48A8-9C0A-475A7AEEA1A8}" type="parTrans">
      <dgm:prSet/>
      <dgm:spPr/>
    </dgm:pt>
    <dgm:pt modelId="{C3951B53-5E91-46D0-BB78-0CB183DCEE59}" cxnId="{2BE28E67-E4D0-48A8-9C0A-475A7AEEA1A8}" type="sibTrans">
      <dgm:prSet/>
      <dgm:spPr/>
    </dgm:pt>
    <dgm:pt modelId="{DAFF3DB0-E559-4F16-9D29-81A58F81BE1B}" type="pres">
      <dgm:prSet presAssocID="{EFBCF8F7-4663-4308-96DF-AB344009EE6A}" presName="Name0" presStyleCnt="0">
        <dgm:presLayoutVars>
          <dgm:dir/>
          <dgm:resizeHandles val="exact"/>
        </dgm:presLayoutVars>
      </dgm:prSet>
      <dgm:spPr/>
    </dgm:pt>
    <dgm:pt modelId="{435B6EB2-8FA3-4D97-9650-90796E3A7A05}" type="pres">
      <dgm:prSet presAssocID="{11D657EF-EA83-4CB4-A74A-6A0E1C6139E1}" presName="node" presStyleLbl="node1" presStyleIdx="0" presStyleCnt="3">
        <dgm:presLayoutVars>
          <dgm:bulletEnabled val="1"/>
        </dgm:presLayoutVars>
      </dgm:prSet>
      <dgm:spPr/>
    </dgm:pt>
    <dgm:pt modelId="{DFF0A89F-5559-4231-A1B5-ACEDB03EBD1A}" type="pres">
      <dgm:prSet presAssocID="{DC02820D-A56F-4D90-AF2D-466FBB5F7369}" presName="sibTrans" presStyleLbl="sibTrans2D1" presStyleIdx="0" presStyleCnt="2"/>
      <dgm:spPr/>
    </dgm:pt>
    <dgm:pt modelId="{6D288A57-4F54-4313-9923-7EF157CFE69B}" type="pres">
      <dgm:prSet presAssocID="{DC02820D-A56F-4D90-AF2D-466FBB5F7369}" presName="connectorText" presStyleCnt="0"/>
      <dgm:spPr/>
    </dgm:pt>
    <dgm:pt modelId="{3ADFA536-EFC1-430C-91FF-ED0A20C647AF}" type="pres">
      <dgm:prSet presAssocID="{2F752A0E-9C07-4022-B7CA-401E03D1783D}" presName="node" presStyleLbl="node1" presStyleIdx="1" presStyleCnt="3">
        <dgm:presLayoutVars>
          <dgm:bulletEnabled val="1"/>
        </dgm:presLayoutVars>
      </dgm:prSet>
      <dgm:spPr/>
    </dgm:pt>
    <dgm:pt modelId="{54915DE4-F584-4C3A-87BB-7604D05B23CD}" type="pres">
      <dgm:prSet presAssocID="{0BC9E8BB-5D86-4F91-8C85-B7DC563369C9}" presName="sibTrans" presStyleLbl="sibTrans2D1" presStyleIdx="1" presStyleCnt="2"/>
      <dgm:spPr/>
    </dgm:pt>
    <dgm:pt modelId="{5BD2D9BF-A1AF-4286-9EDF-B5B5276817F6}" type="pres">
      <dgm:prSet presAssocID="{0BC9E8BB-5D86-4F91-8C85-B7DC563369C9}" presName="connectorText" presStyleCnt="0"/>
      <dgm:spPr/>
    </dgm:pt>
    <dgm:pt modelId="{1A760A5D-9287-45D0-8331-D73EE0D29A94}" type="pres">
      <dgm:prSet presAssocID="{A334D1A5-C42A-4ADF-8491-F055D3F059C4}" presName="node" presStyleLbl="node1" presStyleIdx="2" presStyleCnt="3">
        <dgm:presLayoutVars>
          <dgm:bulletEnabled val="1"/>
        </dgm:presLayoutVars>
      </dgm:prSet>
      <dgm:spPr/>
    </dgm:pt>
  </dgm:ptLst>
  <dgm:cxnLst>
    <dgm:cxn modelId="{A1DFF977-A782-4BA0-8B2B-848931DCB8DC}" srcId="{EFBCF8F7-4663-4308-96DF-AB344009EE6A}" destId="{11D657EF-EA83-4CB4-A74A-6A0E1C6139E1}" srcOrd="0" destOrd="0" parTransId="{CF5676F1-67EB-4261-97BB-C0CC5F90DFFC}" sibTransId="{DC02820D-A56F-4D90-AF2D-466FBB5F7369}"/>
    <dgm:cxn modelId="{BF5DF2A8-A789-4080-834F-BF899A2EDDA6}" srcId="{EFBCF8F7-4663-4308-96DF-AB344009EE6A}" destId="{2F752A0E-9C07-4022-B7CA-401E03D1783D}" srcOrd="1" destOrd="0" parTransId="{8A3C1A4C-36DC-49BE-B019-17BC83825E45}" sibTransId="{0BC9E8BB-5D86-4F91-8C85-B7DC563369C9}"/>
    <dgm:cxn modelId="{2BE28E67-E4D0-48A8-9C0A-475A7AEEA1A8}" srcId="{EFBCF8F7-4663-4308-96DF-AB344009EE6A}" destId="{A334D1A5-C42A-4ADF-8491-F055D3F059C4}" srcOrd="2" destOrd="0" parTransId="{EBA363AF-1DE2-4D93-8143-EB53160AECFA}" sibTransId="{C3951B53-5E91-46D0-BB78-0CB183DCEE59}"/>
    <dgm:cxn modelId="{D490334A-B5B2-428B-96B7-B472615BC8E1}" type="presOf" srcId="{EFBCF8F7-4663-4308-96DF-AB344009EE6A}" destId="{DAFF3DB0-E559-4F16-9D29-81A58F81BE1B}" srcOrd="0" destOrd="0" presId="urn:microsoft.com/office/officeart/2005/8/layout/process1"/>
    <dgm:cxn modelId="{E995AB8D-C08A-4057-BB8F-231D641C37A9}" type="presParOf" srcId="{DAFF3DB0-E559-4F16-9D29-81A58F81BE1B}" destId="{435B6EB2-8FA3-4D97-9650-90796E3A7A05}" srcOrd="0" destOrd="0" presId="urn:microsoft.com/office/officeart/2005/8/layout/process1"/>
    <dgm:cxn modelId="{EFF9BCEF-08AC-4793-ABA5-4DFF723B6532}" type="presOf" srcId="{11D657EF-EA83-4CB4-A74A-6A0E1C6139E1}" destId="{435B6EB2-8FA3-4D97-9650-90796E3A7A05}" srcOrd="0" destOrd="0" presId="urn:microsoft.com/office/officeart/2005/8/layout/process1"/>
    <dgm:cxn modelId="{F04863A3-F9BE-4F7C-A8A7-676A539BB70B}" type="presParOf" srcId="{DAFF3DB0-E559-4F16-9D29-81A58F81BE1B}" destId="{DFF0A89F-5559-4231-A1B5-ACEDB03EBD1A}" srcOrd="1" destOrd="0" presId="urn:microsoft.com/office/officeart/2005/8/layout/process1"/>
    <dgm:cxn modelId="{B71289D0-3373-4136-AA38-2BCF135164F9}" type="presOf" srcId="{DC02820D-A56F-4D90-AF2D-466FBB5F7369}" destId="{DFF0A89F-5559-4231-A1B5-ACEDB03EBD1A}" srcOrd="0" destOrd="0" presId="urn:microsoft.com/office/officeart/2005/8/layout/process1"/>
    <dgm:cxn modelId="{BA96BF39-58EC-4D0E-8743-368D690CDDCC}" type="presParOf" srcId="{DFF0A89F-5559-4231-A1B5-ACEDB03EBD1A}" destId="{6D288A57-4F54-4313-9923-7EF157CFE69B}" srcOrd="0" destOrd="1" presId="urn:microsoft.com/office/officeart/2005/8/layout/process1"/>
    <dgm:cxn modelId="{85D70255-A6CD-4C4E-A5C6-96103D6BDF70}" type="presOf" srcId="{DC02820D-A56F-4D90-AF2D-466FBB5F7369}" destId="{6D288A57-4F54-4313-9923-7EF157CFE69B}" srcOrd="1" destOrd="0" presId="urn:microsoft.com/office/officeart/2005/8/layout/process1"/>
    <dgm:cxn modelId="{26A62963-A1AF-4378-BECC-4003D18FA7FD}" type="presParOf" srcId="{DAFF3DB0-E559-4F16-9D29-81A58F81BE1B}" destId="{3ADFA536-EFC1-430C-91FF-ED0A20C647AF}" srcOrd="2" destOrd="0" presId="urn:microsoft.com/office/officeart/2005/8/layout/process1"/>
    <dgm:cxn modelId="{FA0D8E3E-CC47-489B-820D-C7E02DD2CC77}" type="presOf" srcId="{2F752A0E-9C07-4022-B7CA-401E03D1783D}" destId="{3ADFA536-EFC1-430C-91FF-ED0A20C647AF}" srcOrd="0" destOrd="0" presId="urn:microsoft.com/office/officeart/2005/8/layout/process1"/>
    <dgm:cxn modelId="{433D1DBB-6A13-4413-81FB-F4DC42D4E419}" type="presParOf" srcId="{DAFF3DB0-E559-4F16-9D29-81A58F81BE1B}" destId="{54915DE4-F584-4C3A-87BB-7604D05B23CD}" srcOrd="3" destOrd="0" presId="urn:microsoft.com/office/officeart/2005/8/layout/process1"/>
    <dgm:cxn modelId="{0D47B06E-84BC-4309-84F7-A62BE6AE4AA0}" type="presOf" srcId="{0BC9E8BB-5D86-4F91-8C85-B7DC563369C9}" destId="{54915DE4-F584-4C3A-87BB-7604D05B23CD}" srcOrd="0" destOrd="0" presId="urn:microsoft.com/office/officeart/2005/8/layout/process1"/>
    <dgm:cxn modelId="{2DEC6D9C-9A17-4861-85BF-ED681FC7DB58}" type="presParOf" srcId="{54915DE4-F584-4C3A-87BB-7604D05B23CD}" destId="{5BD2D9BF-A1AF-4286-9EDF-B5B5276817F6}" srcOrd="0" destOrd="3" presId="urn:microsoft.com/office/officeart/2005/8/layout/process1"/>
    <dgm:cxn modelId="{DA28057E-2AA5-4538-BC08-C4DF38F54ACE}" type="presOf" srcId="{0BC9E8BB-5D86-4F91-8C85-B7DC563369C9}" destId="{5BD2D9BF-A1AF-4286-9EDF-B5B5276817F6}" srcOrd="1" destOrd="0" presId="urn:microsoft.com/office/officeart/2005/8/layout/process1"/>
    <dgm:cxn modelId="{37387D85-F225-4348-A6BF-1CB0F512EBFB}" type="presParOf" srcId="{DAFF3DB0-E559-4F16-9D29-81A58F81BE1B}" destId="{1A760A5D-9287-45D0-8331-D73EE0D29A94}" srcOrd="4" destOrd="0" presId="urn:microsoft.com/office/officeart/2005/8/layout/process1"/>
    <dgm:cxn modelId="{DD0845BD-CD27-4356-82E3-F0D798F5A438}" type="presOf" srcId="{A334D1A5-C42A-4ADF-8491-F055D3F059C4}" destId="{1A760A5D-9287-45D0-8331-D73EE0D29A94}" srcOrd="0" destOrd="0" presId="urn:microsoft.com/office/officeart/2005/8/layout/process1"/>
  </dgm:cxnLst>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3030A1-2F9A-4868-AFF6-7A0914AF1169}" type="doc">
      <dgm:prSet/>
      <dgm:spPr/>
      <dgm:t>
        <a:bodyPr/>
        <a:p>
          <a:endParaRPr altLang="en-US"/>
        </a:p>
      </dgm:t>
    </dgm:pt>
    <dgm:pt modelId="{E73B02AD-4369-4B87-9E56-76F22353DDD6}">
      <dgm:prSet/>
      <dgm:spPr/>
      <dgm:t>
        <a:bodyPr/>
        <a:p>
          <a:r>
            <a:rPr lang="zh-CN" b="0" i="0" u="none" baseline="0">
              <a:rtl val="0"/>
            </a:rPr>
            <a:t>毛泽东说:“武器是战争的重要的因素，但不是决定的因素，决定的医素是人不是物:战争的伟力之最深厚的根源，存在于民众之中。</a:t>
          </a:r>
          <a:endParaRPr altLang="en-US"/>
        </a:p>
      </dgm:t>
    </dgm:pt>
    <dgm:pt modelId="{325F51FE-197F-430B-81E5-0ED06E09D9F0}" cxnId="{67DB5DB7-DD25-4594-8570-E66436343EFB}" type="parTrans">
      <dgm:prSet/>
      <dgm:spPr/>
    </dgm:pt>
    <dgm:pt modelId="{E76BE896-4353-448A-AF2A-573674846CF3}" cxnId="{67DB5DB7-DD25-4594-8570-E66436343EFB}" type="sibTrans">
      <dgm:prSet/>
      <dgm:spPr/>
    </dgm:pt>
    <dgm:pt modelId="{8C0E9458-FA9A-479C-8E95-5A70F2B10EBC}">
      <dgm:prSet/>
      <dgm:spPr/>
      <dgm:t>
        <a:bodyPr/>
        <a:p>
          <a:r>
            <a:rPr lang="zh-CN" b="0" i="0" u="none" baseline="0">
              <a:rtl val="0"/>
            </a:rPr>
            <a:t>只要动员了全国老百姓，就会造成陷敌于灭顶之灾的汪洋大海，造成弥补武器等等缺陷的补救条件，造成克服一切战争困难的前提。</a:t>
          </a:r>
          <a:endParaRPr altLang="en-US"/>
        </a:p>
      </dgm:t>
    </dgm:pt>
    <dgm:pt modelId="{6C411274-E5CB-4F02-B2B7-F2712B1B6B9D}" cxnId="{A42EB8E1-7134-4AED-B2AC-B51D16C4F718}" type="parTrans">
      <dgm:prSet/>
      <dgm:spPr/>
    </dgm:pt>
    <dgm:pt modelId="{D7C0C7A7-0953-4D3F-9A5C-B6562A9652F2}" cxnId="{A42EB8E1-7134-4AED-B2AC-B51D16C4F718}" type="sibTrans">
      <dgm:prSet/>
      <dgm:spPr/>
    </dgm:pt>
    <dgm:pt modelId="{17F6CD12-CA42-433D-905A-BD257AB90354}" type="pres">
      <dgm:prSet presAssocID="{A33030A1-2F9A-4868-AFF6-7A0914AF1169}" presName="linear" presStyleCnt="0">
        <dgm:presLayoutVars>
          <dgm:animLvl val="lvl"/>
          <dgm:resizeHandles val="exact"/>
        </dgm:presLayoutVars>
      </dgm:prSet>
      <dgm:spPr/>
    </dgm:pt>
    <dgm:pt modelId="{D2653F57-D362-430B-8069-587479A77B70}" type="pres">
      <dgm:prSet presAssocID="{E73B02AD-4369-4B87-9E56-76F22353DDD6}" presName="parentText" presStyleLbl="node1" presStyleIdx="0" presStyleCnt="2">
        <dgm:presLayoutVars>
          <dgm:chMax val="0"/>
          <dgm:bulletEnabled val="1"/>
        </dgm:presLayoutVars>
      </dgm:prSet>
      <dgm:spPr/>
    </dgm:pt>
    <dgm:pt modelId="{278075B4-77A3-4775-BE8C-353C0FD2641A}" type="pres">
      <dgm:prSet presAssocID="{E76BE896-4353-448A-AF2A-573674846CF3}" presName="spacer" presStyleCnt="0"/>
      <dgm:spPr/>
    </dgm:pt>
    <dgm:pt modelId="{B44C3A22-2F4F-4B9A-8886-E43AD727AB93}" type="pres">
      <dgm:prSet presAssocID="{8C0E9458-FA9A-479C-8E95-5A70F2B10EBC}" presName="parentText" presStyleLbl="node1" presStyleIdx="1" presStyleCnt="2">
        <dgm:presLayoutVars>
          <dgm:chMax val="0"/>
          <dgm:bulletEnabled val="1"/>
        </dgm:presLayoutVars>
      </dgm:prSet>
      <dgm:spPr/>
    </dgm:pt>
  </dgm:ptLst>
  <dgm:cxnLst>
    <dgm:cxn modelId="{67DB5DB7-DD25-4594-8570-E66436343EFB}" srcId="{A33030A1-2F9A-4868-AFF6-7A0914AF1169}" destId="{E73B02AD-4369-4B87-9E56-76F22353DDD6}" srcOrd="0" destOrd="0" parTransId="{325F51FE-197F-430B-81E5-0ED06E09D9F0}" sibTransId="{E76BE896-4353-448A-AF2A-573674846CF3}"/>
    <dgm:cxn modelId="{A42EB8E1-7134-4AED-B2AC-B51D16C4F718}" srcId="{A33030A1-2F9A-4868-AFF6-7A0914AF1169}" destId="{8C0E9458-FA9A-479C-8E95-5A70F2B10EBC}" srcOrd="1" destOrd="0" parTransId="{6C411274-E5CB-4F02-B2B7-F2712B1B6B9D}" sibTransId="{D7C0C7A7-0953-4D3F-9A5C-B6562A9652F2}"/>
    <dgm:cxn modelId="{5E4BD71A-39AD-40F9-B680-212F65DF2A35}" type="presOf" srcId="{A33030A1-2F9A-4868-AFF6-7A0914AF1169}" destId="{17F6CD12-CA42-433D-905A-BD257AB90354}" srcOrd="0" destOrd="0" presId="urn:microsoft.com/office/officeart/2005/8/layout/vList2"/>
    <dgm:cxn modelId="{6A3A8DB0-0AC4-42FE-A949-AA2785E2B6DD}" type="presParOf" srcId="{17F6CD12-CA42-433D-905A-BD257AB90354}" destId="{D2653F57-D362-430B-8069-587479A77B70}" srcOrd="0" destOrd="0" presId="urn:microsoft.com/office/officeart/2005/8/layout/vList2"/>
    <dgm:cxn modelId="{5C707CFE-5629-4788-A51B-57D337D98415}" type="presOf" srcId="{E73B02AD-4369-4B87-9E56-76F22353DDD6}" destId="{D2653F57-D362-430B-8069-587479A77B70}" srcOrd="0" destOrd="0" presId="urn:microsoft.com/office/officeart/2005/8/layout/vList2"/>
    <dgm:cxn modelId="{5D61FB14-C917-4172-B2A4-B973138A3785}" type="presParOf" srcId="{17F6CD12-CA42-433D-905A-BD257AB90354}" destId="{278075B4-77A3-4775-BE8C-353C0FD2641A}" srcOrd="1" destOrd="0" presId="urn:microsoft.com/office/officeart/2005/8/layout/vList2"/>
    <dgm:cxn modelId="{0371D503-3F84-4B0E-809A-223504950657}" type="presParOf" srcId="{17F6CD12-CA42-433D-905A-BD257AB90354}" destId="{B44C3A22-2F4F-4B9A-8886-E43AD727AB93}" srcOrd="2" destOrd="0" presId="urn:microsoft.com/office/officeart/2005/8/layout/vList2"/>
    <dgm:cxn modelId="{FD084194-4BCB-4ACA-898A-2046933756BD}" type="presOf" srcId="{8C0E9458-FA9A-479C-8E95-5A70F2B10EBC}" destId="{B44C3A22-2F4F-4B9A-8886-E43AD727AB93}" srcOrd="0" destOrd="0" presId="urn:microsoft.com/office/officeart/2005/8/layout/vList2"/>
  </dgm:cxnLst>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907905" cy="4408170"/>
        <a:chOff x="0" y="0"/>
        <a:chExt cx="9907905" cy="4408170"/>
      </a:xfrm>
    </dsp:grpSpPr>
    <dsp:sp modelId="{435B6EB2-8FA3-4D97-9650-90796E3A7A05}">
      <dsp:nvSpPr>
        <dsp:cNvPr id="3" name="圆角矩形 2"/>
        <dsp:cNvSpPr/>
      </dsp:nvSpPr>
      <dsp:spPr bwMode="white">
        <a:xfrm>
          <a:off x="0" y="1392238"/>
          <a:ext cx="2607343" cy="162369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b="0" i="0" u="none" baseline="0">
              <a:rtl val="0"/>
            </a:rPr>
            <a:t>《论持久战》全文5万余字，共计约120个自然段，共分为两大部分21个问题。</a:t>
          </a:r>
          <a:endParaRPr altLang="en-US"/>
        </a:p>
      </dsp:txBody>
      <dsp:txXfrm>
        <a:off x="0" y="1392238"/>
        <a:ext cx="2607343" cy="1623695"/>
      </dsp:txXfrm>
    </dsp:sp>
    <dsp:sp modelId="{DFF0A89F-5559-4231-A1B5-ACEDB03EBD1A}">
      <dsp:nvSpPr>
        <dsp:cNvPr id="4" name="右箭头 3"/>
        <dsp:cNvSpPr/>
      </dsp:nvSpPr>
      <dsp:spPr bwMode="white">
        <a:xfrm>
          <a:off x="2852434" y="1880774"/>
          <a:ext cx="552757" cy="646621"/>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23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p>
      </dsp:txBody>
      <dsp:txXfrm>
        <a:off x="2852434" y="1880774"/>
        <a:ext cx="552757" cy="646621"/>
      </dsp:txXfrm>
    </dsp:sp>
    <dsp:sp modelId="{3ADFA536-EFC1-430C-91FF-ED0A20C647AF}">
      <dsp:nvSpPr>
        <dsp:cNvPr id="5" name="圆角矩形 4"/>
        <dsp:cNvSpPr/>
      </dsp:nvSpPr>
      <dsp:spPr bwMode="white">
        <a:xfrm>
          <a:off x="3650281" y="1392238"/>
          <a:ext cx="2607343" cy="162369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b="0" i="0" u="none" baseline="0">
              <a:rtl val="0"/>
            </a:rPr>
            <a:t>前9个问题主要说明抗日战争为什么是持久战，为什么最后胜利是中国的，批判了“亡国论”和“速胜论”</a:t>
          </a:r>
          <a:endParaRPr altLang="en-US"/>
        </a:p>
      </dsp:txBody>
      <dsp:txXfrm>
        <a:off x="3650281" y="1392238"/>
        <a:ext cx="2607343" cy="1623695"/>
      </dsp:txXfrm>
    </dsp:sp>
    <dsp:sp modelId="{54915DE4-F584-4C3A-87BB-7604D05B23CD}">
      <dsp:nvSpPr>
        <dsp:cNvPr id="6" name="右箭头 5"/>
        <dsp:cNvSpPr/>
      </dsp:nvSpPr>
      <dsp:spPr bwMode="white">
        <a:xfrm>
          <a:off x="6502714" y="1880774"/>
          <a:ext cx="552757" cy="646621"/>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23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p>
      </dsp:txBody>
      <dsp:txXfrm>
        <a:off x="6502714" y="1880774"/>
        <a:ext cx="552757" cy="646621"/>
      </dsp:txXfrm>
    </dsp:sp>
    <dsp:sp modelId="{1A760A5D-9287-45D0-8331-D73EE0D29A94}">
      <dsp:nvSpPr>
        <dsp:cNvPr id="7" name="圆角矩形 6"/>
        <dsp:cNvSpPr/>
      </dsp:nvSpPr>
      <dsp:spPr bwMode="white">
        <a:xfrm>
          <a:off x="7300562" y="1392238"/>
          <a:ext cx="2607343" cy="1623695"/>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b="0" i="0" u="none" baseline="0">
              <a:rtl val="0"/>
            </a:rPr>
            <a:t>后12个问题主要说明怎样进行持久战和怎样争取最后胜利，着重论述了人民战争的战略战术。</a:t>
          </a:r>
          <a:endParaRPr altLang="en-US"/>
        </a:p>
      </dsp:txBody>
      <dsp:txXfrm>
        <a:off x="7300562" y="1392238"/>
        <a:ext cx="2607343" cy="162369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659630" cy="3554095"/>
        <a:chOff x="0" y="0"/>
        <a:chExt cx="4659630" cy="3554095"/>
      </a:xfrm>
    </dsp:grpSpPr>
    <dsp:sp modelId="{D2653F57-D362-430B-8069-587479A77B70}">
      <dsp:nvSpPr>
        <dsp:cNvPr id="3" name="圆角矩形 2"/>
        <dsp:cNvSpPr/>
      </dsp:nvSpPr>
      <dsp:spPr bwMode="white">
        <a:xfrm>
          <a:off x="0" y="46742"/>
          <a:ext cx="4659630" cy="1698625"/>
        </a:xfrm>
        <a:prstGeom prst="roundRect">
          <a:avLst/>
        </a:prstGeom>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b="0" i="0" u="none" baseline="0">
              <a:rtl val="0"/>
            </a:rPr>
            <a:t>毛泽东说:“武器是战争的重要的因素，但不是决定的因素，决定的医素是人不是物:战争的伟力之最深厚的根源，存在于民众之中。</a:t>
          </a:r>
          <a:endParaRPr altLang="en-US"/>
        </a:p>
      </dsp:txBody>
      <dsp:txXfrm>
        <a:off x="0" y="46742"/>
        <a:ext cx="4659630" cy="1698625"/>
      </dsp:txXfrm>
    </dsp:sp>
    <dsp:sp modelId="{B44C3A22-2F4F-4B9A-8886-E43AD727AB93}">
      <dsp:nvSpPr>
        <dsp:cNvPr id="4" name="圆角矩形 3"/>
        <dsp:cNvSpPr/>
      </dsp:nvSpPr>
      <dsp:spPr bwMode="white">
        <a:xfrm>
          <a:off x="0" y="1808728"/>
          <a:ext cx="4659630" cy="1698625"/>
        </a:xfrm>
        <a:prstGeom prst="roundRect">
          <a:avLst/>
        </a:prstGeom>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b="0" i="0" u="none" baseline="0">
              <a:rtl val="0"/>
            </a:rPr>
            <a:t>只要动员了全国老百姓，就会造成陷敌于灭顶之灾的汪洋大海，造成弥补武器等等缺陷的补救条件，造成克服一切战争困难的前提。</a:t>
          </a:r>
          <a:endParaRPr altLang="en-US"/>
        </a:p>
      </dsp:txBody>
      <dsp:txXfrm>
        <a:off x="0" y="1808728"/>
        <a:ext cx="4659630" cy="169862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5CE5F-2384-4ECA-A1A3-47861EA0C82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2CD896-5BB0-47EA-A9FD-AA08636F55D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F56E22E-BD2F-4CC6-B6B8-732D02813C51}"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A2CD896-5BB0-47EA-A9FD-AA08636F55D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2516C88-1DBC-4A6F-B7E7-3EF051E8B71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2516C88-1DBC-4A6F-B7E7-3EF051E8B71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2516C88-1DBC-4A6F-B7E7-3EF051E8B71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BB8A7E-8CFB-4EE6-B02F-58142BF95AC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22516C88-1DBC-4A6F-B7E7-3EF051E8B71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BB8A7E-8CFB-4EE6-B02F-58142BF95AC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50D784D-74CC-49A9-95D7-F9265270368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0B9CE88-B01A-4C96-939E-9A9613C2A59B}" type="slidenum">
              <a:rPr lang="zh-CN" altLang="en-US" smtClean="0"/>
            </a:fld>
            <a:endParaRPr lang="zh-CN" altLang="en-US"/>
          </a:p>
        </p:txBody>
      </p:sp>
      <p:sp>
        <p:nvSpPr>
          <p:cNvPr id="11" name="矩形 10"/>
          <p:cNvSpPr/>
          <p:nvPr userDrawn="1"/>
        </p:nvSpPr>
        <p:spPr>
          <a:xfrm>
            <a:off x="8864071" y="6430009"/>
            <a:ext cx="775136" cy="230832"/>
          </a:xfrm>
          <a:prstGeom prst="rect">
            <a:avLst/>
          </a:prstGeom>
        </p:spPr>
        <p:txBody>
          <a:bodyPr wrap="square">
            <a:spAutoFit/>
          </a:bodyPr>
          <a:lstStyle/>
          <a:p>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模板下载：</a:t>
            </a:r>
            <a:r>
              <a:rPr lang="en-US" altLang="zh-CN" sz="100" dirty="0">
                <a:solidFill>
                  <a:srgbClr val="F5E9D9"/>
                </a:solidFill>
                <a:latin typeface="Calibri" panose="020F0502020204030204"/>
                <a:ea typeface="宋体" panose="02010600030101010101" pitchFamily="2" charset="-122"/>
              </a:rPr>
              <a:t>www.1ppt.com/moban/          </a:t>
            </a:r>
            <a:r>
              <a:rPr lang="zh-CN" altLang="en-US" sz="100" dirty="0">
                <a:solidFill>
                  <a:srgbClr val="F5E9D9"/>
                </a:solidFill>
                <a:latin typeface="Calibri" panose="020F0502020204030204"/>
                <a:ea typeface="宋体" panose="02010600030101010101" pitchFamily="2" charset="-122"/>
              </a:rPr>
              <a:t>行业</a:t>
            </a:r>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模板：</a:t>
            </a:r>
            <a:r>
              <a:rPr lang="en-US" altLang="zh-CN" sz="100" dirty="0">
                <a:solidFill>
                  <a:srgbClr val="F5E9D9"/>
                </a:solidFill>
                <a:latin typeface="Calibri" panose="020F0502020204030204"/>
                <a:ea typeface="宋体" panose="02010600030101010101" pitchFamily="2" charset="-122"/>
              </a:rPr>
              <a:t>www.1ppt.com/hangye/ </a:t>
            </a:r>
            <a:endParaRPr lang="en-US" altLang="zh-CN" sz="100" dirty="0">
              <a:solidFill>
                <a:srgbClr val="F5E9D9"/>
              </a:solidFill>
              <a:latin typeface="Calibri" panose="020F0502020204030204"/>
              <a:ea typeface="宋体" panose="02010600030101010101" pitchFamily="2" charset="-122"/>
            </a:endParaRPr>
          </a:p>
          <a:p>
            <a:r>
              <a:rPr lang="zh-CN" altLang="en-US" sz="100" dirty="0">
                <a:solidFill>
                  <a:srgbClr val="F5E9D9"/>
                </a:solidFill>
                <a:latin typeface="Calibri" panose="020F0502020204030204"/>
                <a:ea typeface="宋体" panose="02010600030101010101" pitchFamily="2" charset="-122"/>
              </a:rPr>
              <a:t>节日</a:t>
            </a:r>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模板：</a:t>
            </a:r>
            <a:r>
              <a:rPr lang="en-US" altLang="zh-CN" sz="100" dirty="0">
                <a:solidFill>
                  <a:srgbClr val="F5E9D9"/>
                </a:solidFill>
                <a:latin typeface="Calibri" panose="020F0502020204030204"/>
                <a:ea typeface="宋体" panose="02010600030101010101" pitchFamily="2" charset="-122"/>
              </a:rPr>
              <a:t>www.1ppt.com/jieri/          PPT</a:t>
            </a:r>
            <a:r>
              <a:rPr lang="zh-CN" altLang="en-US" sz="100" dirty="0">
                <a:solidFill>
                  <a:srgbClr val="F5E9D9"/>
                </a:solidFill>
                <a:latin typeface="Calibri" panose="020F0502020204030204"/>
                <a:ea typeface="宋体" panose="02010600030101010101" pitchFamily="2" charset="-122"/>
              </a:rPr>
              <a:t>素材：</a:t>
            </a:r>
            <a:r>
              <a:rPr lang="en-US" altLang="zh-CN" sz="100" dirty="0">
                <a:solidFill>
                  <a:srgbClr val="F5E9D9"/>
                </a:solidFill>
                <a:latin typeface="Calibri" panose="020F0502020204030204"/>
                <a:ea typeface="宋体" panose="02010600030101010101" pitchFamily="2" charset="-122"/>
              </a:rPr>
              <a:t>www.1ppt.com/sucai/</a:t>
            </a:r>
            <a:endParaRPr lang="en-US" altLang="zh-CN" sz="100" dirty="0">
              <a:solidFill>
                <a:srgbClr val="F5E9D9"/>
              </a:solidFill>
              <a:latin typeface="Calibri" panose="020F0502020204030204"/>
              <a:ea typeface="宋体" panose="02010600030101010101" pitchFamily="2" charset="-122"/>
            </a:endParaRPr>
          </a:p>
          <a:p>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背景图片：</a:t>
            </a:r>
            <a:r>
              <a:rPr lang="en-US" altLang="zh-CN" sz="100" dirty="0">
                <a:solidFill>
                  <a:srgbClr val="F5E9D9"/>
                </a:solidFill>
                <a:latin typeface="Calibri" panose="020F0502020204030204"/>
                <a:ea typeface="宋体" panose="02010600030101010101" pitchFamily="2" charset="-122"/>
              </a:rPr>
              <a:t>www.1ppt.com/beijing/        PPT</a:t>
            </a:r>
            <a:r>
              <a:rPr lang="zh-CN" altLang="en-US" sz="100" dirty="0">
                <a:solidFill>
                  <a:srgbClr val="F5E9D9"/>
                </a:solidFill>
                <a:latin typeface="Calibri" panose="020F0502020204030204"/>
                <a:ea typeface="宋体" panose="02010600030101010101" pitchFamily="2" charset="-122"/>
              </a:rPr>
              <a:t>图表：</a:t>
            </a:r>
            <a:r>
              <a:rPr lang="en-US" altLang="zh-CN" sz="100" dirty="0">
                <a:solidFill>
                  <a:srgbClr val="F5E9D9"/>
                </a:solidFill>
                <a:latin typeface="Calibri" panose="020F0502020204030204"/>
                <a:ea typeface="宋体" panose="02010600030101010101" pitchFamily="2" charset="-122"/>
              </a:rPr>
              <a:t>www.1ppt.com/tubiao/      </a:t>
            </a:r>
            <a:endParaRPr lang="en-US" altLang="zh-CN" sz="100" dirty="0">
              <a:solidFill>
                <a:srgbClr val="F5E9D9"/>
              </a:solidFill>
              <a:latin typeface="Calibri" panose="020F0502020204030204"/>
              <a:ea typeface="宋体" panose="02010600030101010101" pitchFamily="2" charset="-122"/>
            </a:endParaRPr>
          </a:p>
          <a:p>
            <a:r>
              <a:rPr lang="zh-CN" altLang="en-US" sz="100" dirty="0">
                <a:solidFill>
                  <a:srgbClr val="F5E9D9"/>
                </a:solidFill>
                <a:latin typeface="Calibri" panose="020F0502020204030204"/>
                <a:ea typeface="宋体" panose="02010600030101010101" pitchFamily="2" charset="-122"/>
              </a:rPr>
              <a:t>精美</a:t>
            </a:r>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下载：</a:t>
            </a:r>
            <a:r>
              <a:rPr lang="en-US" altLang="zh-CN" sz="100" dirty="0">
                <a:solidFill>
                  <a:srgbClr val="F5E9D9"/>
                </a:solidFill>
                <a:latin typeface="Calibri" panose="020F0502020204030204"/>
                <a:ea typeface="宋体" panose="02010600030101010101" pitchFamily="2" charset="-122"/>
              </a:rPr>
              <a:t>www.1ppt.com/xiazai/         PPT</a:t>
            </a:r>
            <a:r>
              <a:rPr lang="zh-CN" altLang="en-US" sz="100" dirty="0">
                <a:solidFill>
                  <a:srgbClr val="F5E9D9"/>
                </a:solidFill>
                <a:latin typeface="Calibri" panose="020F0502020204030204"/>
                <a:ea typeface="宋体" panose="02010600030101010101" pitchFamily="2" charset="-122"/>
              </a:rPr>
              <a:t>教程： </a:t>
            </a:r>
            <a:r>
              <a:rPr lang="en-US" altLang="zh-CN" sz="100" dirty="0">
                <a:solidFill>
                  <a:srgbClr val="F5E9D9"/>
                </a:solidFill>
                <a:latin typeface="Calibri" panose="020F0502020204030204"/>
                <a:ea typeface="宋体" panose="02010600030101010101" pitchFamily="2" charset="-122"/>
              </a:rPr>
              <a:t>www.1ppt.com/powerpoint/      </a:t>
            </a:r>
            <a:endParaRPr lang="en-US" altLang="zh-CN" sz="100" dirty="0">
              <a:solidFill>
                <a:srgbClr val="F5E9D9"/>
              </a:solidFill>
              <a:latin typeface="Calibri" panose="020F0502020204030204"/>
              <a:ea typeface="宋体" panose="02010600030101010101" pitchFamily="2" charset="-122"/>
            </a:endParaRPr>
          </a:p>
          <a:p>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课件：</a:t>
            </a:r>
            <a:r>
              <a:rPr lang="en-US" altLang="zh-CN" sz="100" dirty="0">
                <a:solidFill>
                  <a:srgbClr val="F5E9D9"/>
                </a:solidFill>
                <a:latin typeface="Calibri" panose="020F0502020204030204"/>
                <a:ea typeface="宋体" panose="02010600030101010101" pitchFamily="2" charset="-122"/>
              </a:rPr>
              <a:t>www.1ppt.com/kejian/             </a:t>
            </a:r>
            <a:r>
              <a:rPr lang="zh-CN" altLang="en-US" sz="100" dirty="0">
                <a:solidFill>
                  <a:srgbClr val="F5E9D9"/>
                </a:solidFill>
                <a:latin typeface="Calibri" panose="020F0502020204030204"/>
                <a:ea typeface="宋体" panose="02010600030101010101" pitchFamily="2" charset="-122"/>
              </a:rPr>
              <a:t>字体下载：</a:t>
            </a:r>
            <a:r>
              <a:rPr lang="en-US" altLang="zh-CN" sz="100" dirty="0">
                <a:solidFill>
                  <a:srgbClr val="F5E9D9"/>
                </a:solidFill>
                <a:latin typeface="Calibri" panose="020F0502020204030204"/>
                <a:ea typeface="宋体" panose="02010600030101010101" pitchFamily="2" charset="-122"/>
              </a:rPr>
              <a:t>www.1ppt.com/ziti/</a:t>
            </a:r>
            <a:endParaRPr lang="en-US" altLang="zh-CN" sz="100" dirty="0">
              <a:solidFill>
                <a:srgbClr val="F5E9D9"/>
              </a:solidFill>
              <a:latin typeface="Calibri" panose="020F0502020204030204"/>
              <a:ea typeface="宋体" panose="02010600030101010101" pitchFamily="2" charset="-122"/>
            </a:endParaRPr>
          </a:p>
          <a:p>
            <a:r>
              <a:rPr lang="zh-CN" altLang="en-US" sz="100" dirty="0">
                <a:solidFill>
                  <a:srgbClr val="F5E9D9"/>
                </a:solidFill>
                <a:latin typeface="Calibri" panose="020F0502020204030204"/>
                <a:ea typeface="宋体" panose="02010600030101010101" pitchFamily="2" charset="-122"/>
              </a:rPr>
              <a:t>工作总结</a:t>
            </a:r>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a:t>
            </a:r>
            <a:r>
              <a:rPr lang="en-US" altLang="zh-CN" sz="100" dirty="0">
                <a:solidFill>
                  <a:srgbClr val="F5E9D9"/>
                </a:solidFill>
                <a:latin typeface="Calibri" panose="020F0502020204030204"/>
                <a:ea typeface="宋体" panose="02010600030101010101" pitchFamily="2" charset="-122"/>
              </a:rPr>
              <a:t>www.1ppt.com/xiazai/zongjie/ </a:t>
            </a:r>
            <a:r>
              <a:rPr lang="zh-CN" altLang="en-US" sz="100" dirty="0">
                <a:solidFill>
                  <a:srgbClr val="F5E9D9"/>
                </a:solidFill>
                <a:latin typeface="Calibri" panose="020F0502020204030204"/>
                <a:ea typeface="宋体" panose="02010600030101010101" pitchFamily="2" charset="-122"/>
              </a:rPr>
              <a:t>工作计划：</a:t>
            </a:r>
            <a:r>
              <a:rPr lang="en-US" altLang="zh-CN" sz="100" dirty="0">
                <a:solidFill>
                  <a:srgbClr val="F5E9D9"/>
                </a:solidFill>
                <a:latin typeface="Calibri" panose="020F0502020204030204"/>
                <a:ea typeface="宋体" panose="02010600030101010101" pitchFamily="2" charset="-122"/>
              </a:rPr>
              <a:t>www.1ppt.com/xiazai/jihua/</a:t>
            </a:r>
            <a:endParaRPr lang="en-US" altLang="zh-CN" sz="100" dirty="0">
              <a:solidFill>
                <a:srgbClr val="F5E9D9"/>
              </a:solidFill>
              <a:latin typeface="Calibri" panose="020F0502020204030204"/>
              <a:ea typeface="宋体" panose="02010600030101010101" pitchFamily="2" charset="-122"/>
            </a:endParaRPr>
          </a:p>
          <a:p>
            <a:r>
              <a:rPr lang="zh-CN" altLang="en-US" sz="100" dirty="0">
                <a:solidFill>
                  <a:srgbClr val="F5E9D9"/>
                </a:solidFill>
                <a:latin typeface="Calibri" panose="020F0502020204030204"/>
                <a:ea typeface="宋体" panose="02010600030101010101" pitchFamily="2" charset="-122"/>
              </a:rPr>
              <a:t>商务</a:t>
            </a:r>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模板：</a:t>
            </a:r>
            <a:r>
              <a:rPr lang="en-US" altLang="zh-CN" sz="100" dirty="0">
                <a:solidFill>
                  <a:srgbClr val="F5E9D9"/>
                </a:solidFill>
                <a:latin typeface="Calibri" panose="020F0502020204030204"/>
                <a:ea typeface="宋体" panose="02010600030101010101" pitchFamily="2" charset="-122"/>
              </a:rPr>
              <a:t>www.1ppt.com/moban/shangwu/  </a:t>
            </a:r>
            <a:r>
              <a:rPr lang="zh-CN" altLang="en-US" sz="100" dirty="0">
                <a:solidFill>
                  <a:srgbClr val="F5E9D9"/>
                </a:solidFill>
                <a:latin typeface="Calibri" panose="020F0502020204030204"/>
                <a:ea typeface="宋体" panose="02010600030101010101" pitchFamily="2" charset="-122"/>
              </a:rPr>
              <a:t>个人简历</a:t>
            </a:r>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a:t>
            </a:r>
            <a:r>
              <a:rPr lang="en-US" altLang="zh-CN" sz="100" dirty="0">
                <a:solidFill>
                  <a:srgbClr val="F5E9D9"/>
                </a:solidFill>
                <a:latin typeface="Calibri" panose="020F0502020204030204"/>
                <a:ea typeface="宋体" panose="02010600030101010101" pitchFamily="2" charset="-122"/>
              </a:rPr>
              <a:t>www.1ppt.com/xiazai/jianli/  </a:t>
            </a:r>
            <a:endParaRPr lang="en-US" altLang="zh-CN" sz="100" dirty="0">
              <a:solidFill>
                <a:srgbClr val="F5E9D9"/>
              </a:solidFill>
              <a:latin typeface="Calibri" panose="020F0502020204030204"/>
              <a:ea typeface="宋体" panose="02010600030101010101" pitchFamily="2" charset="-122"/>
            </a:endParaRPr>
          </a:p>
          <a:p>
            <a:r>
              <a:rPr lang="zh-CN" altLang="en-US" sz="100" dirty="0">
                <a:solidFill>
                  <a:srgbClr val="F5E9D9"/>
                </a:solidFill>
                <a:latin typeface="Calibri" panose="020F0502020204030204"/>
                <a:ea typeface="宋体" panose="02010600030101010101" pitchFamily="2" charset="-122"/>
              </a:rPr>
              <a:t>毕业答辩</a:t>
            </a:r>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a:t>
            </a:r>
            <a:r>
              <a:rPr lang="en-US" altLang="zh-CN" sz="100" dirty="0">
                <a:solidFill>
                  <a:srgbClr val="F5E9D9"/>
                </a:solidFill>
                <a:latin typeface="Calibri" panose="020F0502020204030204"/>
                <a:ea typeface="宋体" panose="02010600030101010101" pitchFamily="2" charset="-122"/>
              </a:rPr>
              <a:t>www.1ppt.com/xiazai/dabian/  </a:t>
            </a:r>
            <a:r>
              <a:rPr lang="zh-CN" altLang="en-US" sz="100" dirty="0">
                <a:solidFill>
                  <a:srgbClr val="F5E9D9"/>
                </a:solidFill>
                <a:latin typeface="Calibri" panose="020F0502020204030204"/>
                <a:ea typeface="宋体" panose="02010600030101010101" pitchFamily="2" charset="-122"/>
              </a:rPr>
              <a:t>工作汇报</a:t>
            </a:r>
            <a:r>
              <a:rPr lang="en-US" altLang="zh-CN" sz="100" dirty="0">
                <a:solidFill>
                  <a:srgbClr val="F5E9D9"/>
                </a:solidFill>
                <a:latin typeface="Calibri" panose="020F0502020204030204"/>
                <a:ea typeface="宋体" panose="02010600030101010101" pitchFamily="2" charset="-122"/>
              </a:rPr>
              <a:t>PPT</a:t>
            </a:r>
            <a:r>
              <a:rPr lang="zh-CN" altLang="en-US" sz="100" dirty="0">
                <a:solidFill>
                  <a:srgbClr val="F5E9D9"/>
                </a:solidFill>
                <a:latin typeface="Calibri" panose="020F0502020204030204"/>
                <a:ea typeface="宋体" panose="02010600030101010101" pitchFamily="2" charset="-122"/>
              </a:rPr>
              <a:t>：</a:t>
            </a:r>
            <a:r>
              <a:rPr lang="en-US" altLang="zh-CN" sz="100" dirty="0">
                <a:solidFill>
                  <a:srgbClr val="F5E9D9"/>
                </a:solidFill>
                <a:latin typeface="Calibri" panose="020F0502020204030204"/>
                <a:ea typeface="宋体" panose="02010600030101010101" pitchFamily="2" charset="-122"/>
              </a:rPr>
              <a:t>www.1ppt.com/xiazai/huibao/    </a:t>
            </a:r>
            <a:endParaRPr lang="en-US" altLang="zh-CN" sz="100" dirty="0">
              <a:solidFill>
                <a:srgbClr val="F5E9D9"/>
              </a:solidFill>
              <a:latin typeface="Calibri" panose="020F0502020204030204"/>
              <a:ea typeface="宋体" panose="02010600030101010101" pitchFamily="2" charset="-122"/>
            </a:endParaRPr>
          </a:p>
          <a:p>
            <a:r>
              <a:rPr lang="en-US" altLang="zh-CN" sz="100" dirty="0">
                <a:solidFill>
                  <a:srgbClr val="F5E9D9"/>
                </a:solidFill>
                <a:latin typeface="Calibri" panose="020F0502020204030204"/>
                <a:ea typeface="宋体" panose="02010600030101010101" pitchFamily="2" charset="-122"/>
              </a:rPr>
              <a:t> </a:t>
            </a:r>
            <a:endParaRPr lang="en-US" altLang="zh-CN" sz="100" dirty="0">
              <a:solidFill>
                <a:srgbClr val="F5E9D9"/>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50D784D-74CC-49A9-95D7-F9265270368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0B9CE88-B01A-4C96-939E-9A9613C2A59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50D784D-74CC-49A9-95D7-F9265270368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0B9CE88-B01A-4C96-939E-9A9613C2A59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50D784D-74CC-49A9-95D7-F9265270368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B9CE88-B01A-4C96-939E-9A9613C2A59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50D784D-74CC-49A9-95D7-F9265270368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0B9CE88-B01A-4C96-939E-9A9613C2A59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50D784D-74CC-49A9-95D7-F9265270368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B9CE88-B01A-4C96-939E-9A9613C2A59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50D784D-74CC-49A9-95D7-F9265270368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0B9CE88-B01A-4C96-939E-9A9613C2A59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0"/>
    </mc:Choice>
    <mc:Fallback>
      <p:transition advTm="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516C88-1DBC-4A6F-B7E7-3EF051E8B71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BB8A7E-8CFB-4EE6-B02F-58142BF95AC5}" type="slidenum">
              <a:rPr lang="zh-CN" altLang="en-US" smtClean="0"/>
            </a:fld>
            <a:endParaRPr lang="zh-CN" altLang="en-US"/>
          </a:p>
        </p:txBody>
      </p:sp>
      <p:sp>
        <p:nvSpPr>
          <p:cNvPr id="8" name="矩形 7"/>
          <p:cNvSpPr/>
          <p:nvPr userDrawn="1"/>
        </p:nvSpPr>
        <p:spPr>
          <a:xfrm>
            <a:off x="0" y="0"/>
            <a:ext cx="12192000" cy="6858000"/>
          </a:xfrm>
          <a:prstGeom prst="rect">
            <a:avLst/>
          </a:prstGeom>
          <a:solidFill>
            <a:srgbClr val="F5E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mc:Choice xmlns:p14="http://schemas.microsoft.com/office/powerpoint/2010/main" Requires="p14">
      <p:transition p14:dur="10" advTm="0"/>
    </mc:Choice>
    <mc:Fallback>
      <p:transition advTm="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0" Type="http://schemas.openxmlformats.org/officeDocument/2006/relationships/notesSlide" Target="../notesSlides/notesSlide3.xml"/><Relationship Id="rId3" Type="http://schemas.openxmlformats.org/officeDocument/2006/relationships/tags" Target="../tags/tag1.xml"/><Relationship Id="rId29" Type="http://schemas.openxmlformats.org/officeDocument/2006/relationships/slideLayout" Target="../slideLayouts/slideLayout12.xml"/><Relationship Id="rId28" Type="http://schemas.openxmlformats.org/officeDocument/2006/relationships/image" Target="../media/image3.png"/><Relationship Id="rId27" Type="http://schemas.openxmlformats.org/officeDocument/2006/relationships/image" Target="../media/image5.png"/><Relationship Id="rId26" Type="http://schemas.openxmlformats.org/officeDocument/2006/relationships/tags" Target="../tags/tag24.xml"/><Relationship Id="rId25" Type="http://schemas.openxmlformats.org/officeDocument/2006/relationships/tags" Target="../tags/tag23.xml"/><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image" Target="../media/image2.png"/><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3.xml"/><Relationship Id="rId7" Type="http://schemas.microsoft.com/office/2007/relationships/diagramDrawing" Target="../diagrams/drawing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3" Type="http://schemas.openxmlformats.org/officeDocument/2006/relationships/diagramData" Target="../diagrams/data2.xml"/><Relationship Id="rId2" Type="http://schemas.openxmlformats.org/officeDocument/2006/relationships/image" Target="../media/image8.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3.xml"/><Relationship Id="rId2" Type="http://schemas.openxmlformats.org/officeDocument/2006/relationships/image" Target="../media/image11.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cstate="screen"/>
          <a:stretch>
            <a:fillRect/>
          </a:stretch>
        </p:blipFill>
        <p:spPr>
          <a:xfrm>
            <a:off x="7003723" y="2745633"/>
            <a:ext cx="5184990" cy="4147992"/>
          </a:xfrm>
          <a:prstGeom prst="rect">
            <a:avLst/>
          </a:prstGeom>
        </p:spPr>
      </p:pic>
      <p:pic>
        <p:nvPicPr>
          <p:cNvPr id="35" name="图片 34"/>
          <p:cNvPicPr>
            <a:picLocks noChangeAspect="1"/>
          </p:cNvPicPr>
          <p:nvPr/>
        </p:nvPicPr>
        <p:blipFill>
          <a:blip r:embed="rId2" cstate="screen"/>
          <a:stretch>
            <a:fillRect/>
          </a:stretch>
        </p:blipFill>
        <p:spPr>
          <a:xfrm>
            <a:off x="0" y="4049960"/>
            <a:ext cx="4460240" cy="2788989"/>
          </a:xfrm>
          <a:prstGeom prst="rect">
            <a:avLst/>
          </a:prstGeom>
        </p:spPr>
      </p:pic>
      <p:sp>
        <p:nvSpPr>
          <p:cNvPr id="30" name="矩形 29"/>
          <p:cNvSpPr/>
          <p:nvPr/>
        </p:nvSpPr>
        <p:spPr>
          <a:xfrm>
            <a:off x="2651761" y="2190080"/>
            <a:ext cx="6888480" cy="1445260"/>
          </a:xfrm>
          <a:prstGeom prst="rect">
            <a:avLst/>
          </a:prstGeom>
        </p:spPr>
        <p:txBody>
          <a:bodyPr wrap="none">
            <a:spAutoFit/>
          </a:bodyPr>
          <a:lstStyle/>
          <a:p>
            <a:pPr algn="ctr"/>
            <a:r>
              <a:rPr lang="zh-CN" altLang="en-US" sz="8800" dirty="0">
                <a:solidFill>
                  <a:srgbClr val="C00000"/>
                </a:solidFill>
                <a:latin typeface="华文中宋" panose="02010600040101010101" pitchFamily="2" charset="-122"/>
                <a:ea typeface="华文中宋" panose="02010600040101010101" pitchFamily="2" charset="-122"/>
                <a:cs typeface="+mn-ea"/>
                <a:sym typeface="+mn-lt"/>
              </a:rPr>
              <a:t>《论持久战》</a:t>
            </a:r>
            <a:endParaRPr lang="zh-CN" altLang="en-US" sz="8800" dirty="0">
              <a:solidFill>
                <a:srgbClr val="C00000"/>
              </a:solidFill>
              <a:latin typeface="华文中宋" panose="02010600040101010101" pitchFamily="2" charset="-122"/>
              <a:ea typeface="华文中宋" panose="02010600040101010101" pitchFamily="2" charset="-122"/>
              <a:cs typeface="+mn-ea"/>
              <a:sym typeface="+mn-lt"/>
            </a:endParaRPr>
          </a:p>
        </p:txBody>
      </p:sp>
      <p:sp>
        <p:nvSpPr>
          <p:cNvPr id="31" name="矩形 30"/>
          <p:cNvSpPr/>
          <p:nvPr/>
        </p:nvSpPr>
        <p:spPr>
          <a:xfrm>
            <a:off x="1599248" y="3853208"/>
            <a:ext cx="8920480" cy="583565"/>
          </a:xfrm>
          <a:prstGeom prst="rect">
            <a:avLst/>
          </a:prstGeom>
        </p:spPr>
        <p:txBody>
          <a:bodyPr wrap="none">
            <a:spAutoFit/>
          </a:bodyPr>
          <a:lstStyle/>
          <a:p>
            <a:pPr algn="ctr"/>
            <a:r>
              <a:rPr lang="en-US" altLang="zh-CN" sz="3200" dirty="0">
                <a:solidFill>
                  <a:srgbClr val="C00000"/>
                </a:solidFill>
                <a:latin typeface="字体视界-NEW魏碑体" panose="02010601030101010101" pitchFamily="2" charset="-122"/>
                <a:ea typeface="字体视界-NEW魏碑体" panose="02010601030101010101" pitchFamily="2" charset="-122"/>
                <a:cs typeface="+mn-ea"/>
                <a:sym typeface="+mn-lt"/>
              </a:rPr>
              <a:t>—— </a:t>
            </a:r>
            <a:r>
              <a:rPr lang="zh-CN" altLang="en-US" sz="3200" dirty="0">
                <a:solidFill>
                  <a:srgbClr val="C00000"/>
                </a:solidFill>
                <a:latin typeface="字体视界-NEW魏碑体" panose="02010601030101010101" pitchFamily="2" charset="-122"/>
                <a:ea typeface="字体视界-NEW魏碑体" panose="02010601030101010101" pitchFamily="2" charset="-122"/>
                <a:cs typeface="+mn-ea"/>
                <a:sym typeface="+mn-lt"/>
              </a:rPr>
              <a:t>抗日战争是持久战，最后胜利是中国的</a:t>
            </a:r>
            <a:r>
              <a:rPr lang="en-US" altLang="zh-CN" sz="3200" dirty="0">
                <a:solidFill>
                  <a:srgbClr val="C00000"/>
                </a:solidFill>
                <a:latin typeface="字体视界-NEW魏碑体" panose="02010601030101010101" pitchFamily="2" charset="-122"/>
                <a:ea typeface="字体视界-NEW魏碑体" panose="02010601030101010101" pitchFamily="2" charset="-122"/>
                <a:cs typeface="+mn-ea"/>
                <a:sym typeface="+mn-lt"/>
              </a:rPr>
              <a:t>——</a:t>
            </a:r>
            <a:endParaRPr lang="zh-CN" altLang="en-US" sz="3200"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32" name="Freeform 29"/>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pic>
        <p:nvPicPr>
          <p:cNvPr id="33" name="图片 32"/>
          <p:cNvPicPr>
            <a:picLocks noChangeAspect="1"/>
          </p:cNvPicPr>
          <p:nvPr/>
        </p:nvPicPr>
        <p:blipFill>
          <a:blip r:embed="rId3"/>
          <a:stretch>
            <a:fillRect/>
          </a:stretch>
        </p:blipFill>
        <p:spPr>
          <a:xfrm>
            <a:off x="8167468" y="552220"/>
            <a:ext cx="2857500" cy="1190625"/>
          </a:xfrm>
          <a:prstGeom prst="rect">
            <a:avLst/>
          </a:prstGeom>
        </p:spPr>
      </p:pic>
      <p:sp>
        <p:nvSpPr>
          <p:cNvPr id="38" name="矩形 37"/>
          <p:cNvSpPr/>
          <p:nvPr/>
        </p:nvSpPr>
        <p:spPr>
          <a:xfrm>
            <a:off x="3624898" y="4993536"/>
            <a:ext cx="4869180" cy="368300"/>
          </a:xfrm>
          <a:prstGeom prst="rect">
            <a:avLst/>
          </a:prstGeom>
        </p:spPr>
        <p:txBody>
          <a:bodyPr wrap="none">
            <a:spAutoFit/>
          </a:bodyPr>
          <a:lstStyle/>
          <a:p>
            <a:pPr algn="ct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汇报人</a:t>
            </a:r>
            <a:r>
              <a:rPr lang="en-US" altLang="zh-CN"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a:t>
            </a:r>
            <a:r>
              <a:rPr lang="zh-CN"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林芙巧</a:t>
            </a:r>
            <a:r>
              <a:rPr lang="en-US" altLang="zh-CN"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 </a:t>
            </a:r>
            <a:r>
              <a:rPr lang="zh-CN" altLang="en-US"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黄振凯       </a:t>
            </a: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汇报时间</a:t>
            </a:r>
            <a:r>
              <a:rPr lang="zh-CN" altLang="en-US"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a:t>
            </a:r>
            <a:r>
              <a:rPr lang="en-US" altLang="zh-CN"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2024</a:t>
            </a:r>
            <a:endParaRPr lang="en-US" altLang="zh-CN" dirty="0" smtClean="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pic>
        <p:nvPicPr>
          <p:cNvPr id="40" name="图片 39"/>
          <p:cNvPicPr>
            <a:picLocks noChangeAspect="1"/>
          </p:cNvPicPr>
          <p:nvPr/>
        </p:nvPicPr>
        <p:blipFill>
          <a:blip r:embed="rId3"/>
          <a:stretch>
            <a:fillRect/>
          </a:stretch>
        </p:blipFill>
        <p:spPr>
          <a:xfrm rot="20902340" flipH="1">
            <a:off x="1320789" y="1151521"/>
            <a:ext cx="2100539" cy="8752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childTnLst>
                          </p:cTn>
                        </p:par>
                        <p:par>
                          <p:cTn id="12" fill="hold">
                            <p:stCondLst>
                              <p:cond delay="1000"/>
                            </p:stCondLst>
                            <p:childTnLst>
                              <p:par>
                                <p:cTn id="13" presetID="23" presetClass="entr" presetSubtype="36"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1000" fill="hold"/>
                                        <p:tgtEl>
                                          <p:spTgt spid="32"/>
                                        </p:tgtEl>
                                        <p:attrNameLst>
                                          <p:attrName>ppt_w</p:attrName>
                                        </p:attrNameLst>
                                      </p:cBhvr>
                                      <p:tavLst>
                                        <p:tav tm="0">
                                          <p:val>
                                            <p:strVal val="(6*min(max(#ppt_w*#ppt_h,.3),1)-7.4)/-.7*#ppt_w"/>
                                          </p:val>
                                        </p:tav>
                                        <p:tav tm="100000">
                                          <p:val>
                                            <p:strVal val="#ppt_w"/>
                                          </p:val>
                                        </p:tav>
                                      </p:tavLst>
                                    </p:anim>
                                    <p:anim calcmode="lin" valueType="num">
                                      <p:cBhvr>
                                        <p:cTn id="16" dur="1000" fill="hold"/>
                                        <p:tgtEl>
                                          <p:spTgt spid="32"/>
                                        </p:tgtEl>
                                        <p:attrNameLst>
                                          <p:attrName>ppt_h</p:attrName>
                                        </p:attrNameLst>
                                      </p:cBhvr>
                                      <p:tavLst>
                                        <p:tav tm="0">
                                          <p:val>
                                            <p:strVal val="(6*min(max(#ppt_w*#ppt_h,.3),1)-7.4)/-.7*#ppt_h"/>
                                          </p:val>
                                        </p:tav>
                                        <p:tav tm="100000">
                                          <p:val>
                                            <p:strVal val="#ppt_h"/>
                                          </p:val>
                                        </p:tav>
                                      </p:tavLst>
                                    </p:anim>
                                    <p:anim calcmode="lin" valueType="num">
                                      <p:cBhvr>
                                        <p:cTn id="17" dur="1000" fill="hold"/>
                                        <p:tgtEl>
                                          <p:spTgt spid="32"/>
                                        </p:tgtEl>
                                        <p:attrNameLst>
                                          <p:attrName>ppt_x</p:attrName>
                                        </p:attrNameLst>
                                      </p:cBhvr>
                                      <p:tavLst>
                                        <p:tav tm="0">
                                          <p:val>
                                            <p:fltVal val="0.5"/>
                                          </p:val>
                                        </p:tav>
                                        <p:tav tm="100000">
                                          <p:val>
                                            <p:strVal val="#ppt_x"/>
                                          </p:val>
                                        </p:tav>
                                      </p:tavLst>
                                    </p:anim>
                                    <p:anim calcmode="lin" valueType="num">
                                      <p:cBhvr>
                                        <p:cTn id="18" dur="1000" fill="hold"/>
                                        <p:tgtEl>
                                          <p:spTgt spid="32"/>
                                        </p:tgtEl>
                                        <p:attrNameLst>
                                          <p:attrName>ppt_y</p:attrName>
                                        </p:attrNameLst>
                                      </p:cBhvr>
                                      <p:tavLst>
                                        <p:tav tm="0">
                                          <p:val>
                                            <p:strVal val="1+(6*min(max(#ppt_w*#ppt_h,.3),1)-7.4)/-.7*#ppt_h/2"/>
                                          </p:val>
                                        </p:tav>
                                        <p:tav tm="100000">
                                          <p:val>
                                            <p:strVal val="#ppt_y"/>
                                          </p:val>
                                        </p:tav>
                                      </p:tavLst>
                                    </p:anim>
                                  </p:childTnLst>
                                </p:cTn>
                              </p:par>
                            </p:childTnLst>
                          </p:cTn>
                        </p:par>
                        <p:par>
                          <p:cTn id="19" fill="hold">
                            <p:stCondLst>
                              <p:cond delay="2000"/>
                            </p:stCondLst>
                            <p:childTnLst>
                              <p:par>
                                <p:cTn id="20" presetID="53" presetClass="entr" presetSubtype="16" fill="hold" grpId="0" nodeType="after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1000" fill="hold"/>
                                        <p:tgtEl>
                                          <p:spTgt spid="30"/>
                                        </p:tgtEl>
                                        <p:attrNameLst>
                                          <p:attrName>ppt_w</p:attrName>
                                        </p:attrNameLst>
                                      </p:cBhvr>
                                      <p:tavLst>
                                        <p:tav tm="0">
                                          <p:val>
                                            <p:fltVal val="0"/>
                                          </p:val>
                                        </p:tav>
                                        <p:tav tm="100000">
                                          <p:val>
                                            <p:strVal val="#ppt_w"/>
                                          </p:val>
                                        </p:tav>
                                      </p:tavLst>
                                    </p:anim>
                                    <p:anim calcmode="lin" valueType="num">
                                      <p:cBhvr>
                                        <p:cTn id="23" dur="1000" fill="hold"/>
                                        <p:tgtEl>
                                          <p:spTgt spid="30"/>
                                        </p:tgtEl>
                                        <p:attrNameLst>
                                          <p:attrName>ppt_h</p:attrName>
                                        </p:attrNameLst>
                                      </p:cBhvr>
                                      <p:tavLst>
                                        <p:tav tm="0">
                                          <p:val>
                                            <p:fltVal val="0"/>
                                          </p:val>
                                        </p:tav>
                                        <p:tav tm="100000">
                                          <p:val>
                                            <p:strVal val="#ppt_h"/>
                                          </p:val>
                                        </p:tav>
                                      </p:tavLst>
                                    </p:anim>
                                    <p:animEffect transition="in" filter="fade">
                                      <p:cBhvr>
                                        <p:cTn id="24" dur="1000"/>
                                        <p:tgtEl>
                                          <p:spTgt spid="30"/>
                                        </p:tgtEl>
                                      </p:cBhvr>
                                    </p:animEffect>
                                  </p:childTnLst>
                                </p:cTn>
                              </p:par>
                              <p:par>
                                <p:cTn id="25" presetID="35" presetClass="path" presetSubtype="0" accel="50000" decel="50000" fill="hold" grpId="1" nodeType="withEffect">
                                  <p:stCondLst>
                                    <p:cond delay="0"/>
                                  </p:stCondLst>
                                  <p:childTnLst>
                                    <p:animMotion origin="layout" path="M 0 1.48148E-6 L -0.41185 1.48148E-6 " pathEditMode="relative" rAng="0" ptsTypes="AA">
                                      <p:cBhvr>
                                        <p:cTn id="26" dur="2000" spd="-100000" fill="hold"/>
                                        <p:tgtEl>
                                          <p:spTgt spid="30"/>
                                        </p:tgtEl>
                                        <p:attrNameLst>
                                          <p:attrName>ppt_x</p:attrName>
                                          <p:attrName>ppt_y</p:attrName>
                                        </p:attrNameLst>
                                      </p:cBhvr>
                                      <p:rCtr x="-20599" y="0"/>
                                    </p:animMotion>
                                  </p:childTnLst>
                                </p:cTn>
                              </p:par>
                              <p:par>
                                <p:cTn id="27" presetID="53" presetClass="entr" presetSubtype="16"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p:cTn id="29" dur="1000" fill="hold"/>
                                        <p:tgtEl>
                                          <p:spTgt spid="31"/>
                                        </p:tgtEl>
                                        <p:attrNameLst>
                                          <p:attrName>ppt_w</p:attrName>
                                        </p:attrNameLst>
                                      </p:cBhvr>
                                      <p:tavLst>
                                        <p:tav tm="0">
                                          <p:val>
                                            <p:fltVal val="0"/>
                                          </p:val>
                                        </p:tav>
                                        <p:tav tm="100000">
                                          <p:val>
                                            <p:strVal val="#ppt_w"/>
                                          </p:val>
                                        </p:tav>
                                      </p:tavLst>
                                    </p:anim>
                                    <p:anim calcmode="lin" valueType="num">
                                      <p:cBhvr>
                                        <p:cTn id="30" dur="1000" fill="hold"/>
                                        <p:tgtEl>
                                          <p:spTgt spid="31"/>
                                        </p:tgtEl>
                                        <p:attrNameLst>
                                          <p:attrName>ppt_h</p:attrName>
                                        </p:attrNameLst>
                                      </p:cBhvr>
                                      <p:tavLst>
                                        <p:tav tm="0">
                                          <p:val>
                                            <p:fltVal val="0"/>
                                          </p:val>
                                        </p:tav>
                                        <p:tav tm="100000">
                                          <p:val>
                                            <p:strVal val="#ppt_h"/>
                                          </p:val>
                                        </p:tav>
                                      </p:tavLst>
                                    </p:anim>
                                    <p:animEffect transition="in" filter="fade">
                                      <p:cBhvr>
                                        <p:cTn id="31" dur="1000"/>
                                        <p:tgtEl>
                                          <p:spTgt spid="31"/>
                                        </p:tgtEl>
                                      </p:cBhvr>
                                    </p:animEffect>
                                  </p:childTnLst>
                                </p:cTn>
                              </p:par>
                              <p:par>
                                <p:cTn id="32" presetID="35" presetClass="path" presetSubtype="0" accel="50000" decel="50000" fill="hold" grpId="1" nodeType="withEffect">
                                  <p:stCondLst>
                                    <p:cond delay="0"/>
                                  </p:stCondLst>
                                  <p:childTnLst>
                                    <p:animMotion origin="layout" path="M 4.79167E-6 1.85185E-6 L 0.31575 1.85185E-6 " pathEditMode="relative" rAng="0" ptsTypes="AA">
                                      <p:cBhvr>
                                        <p:cTn id="33" dur="2000" spd="-100000" fill="hold"/>
                                        <p:tgtEl>
                                          <p:spTgt spid="31"/>
                                        </p:tgtEl>
                                        <p:attrNameLst>
                                          <p:attrName>ppt_x</p:attrName>
                                          <p:attrName>ppt_y</p:attrName>
                                        </p:attrNameLst>
                                      </p:cBhvr>
                                      <p:rCtr x="15781" y="0"/>
                                    </p:animMotion>
                                  </p:childTnLst>
                                </p:cTn>
                              </p:par>
                            </p:childTnLst>
                          </p:cTn>
                        </p:par>
                        <p:par>
                          <p:cTn id="34" fill="hold">
                            <p:stCondLst>
                              <p:cond delay="3000"/>
                            </p:stCondLst>
                            <p:childTnLst>
                              <p:par>
                                <p:cTn id="35" presetID="53" presetClass="entr" presetSubtype="16"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p:cTn id="37" dur="1000" fill="hold"/>
                                        <p:tgtEl>
                                          <p:spTgt spid="33"/>
                                        </p:tgtEl>
                                        <p:attrNameLst>
                                          <p:attrName>ppt_w</p:attrName>
                                        </p:attrNameLst>
                                      </p:cBhvr>
                                      <p:tavLst>
                                        <p:tav tm="0">
                                          <p:val>
                                            <p:fltVal val="0"/>
                                          </p:val>
                                        </p:tav>
                                        <p:tav tm="100000">
                                          <p:val>
                                            <p:strVal val="#ppt_w"/>
                                          </p:val>
                                        </p:tav>
                                      </p:tavLst>
                                    </p:anim>
                                    <p:anim calcmode="lin" valueType="num">
                                      <p:cBhvr>
                                        <p:cTn id="38" dur="1000" fill="hold"/>
                                        <p:tgtEl>
                                          <p:spTgt spid="33"/>
                                        </p:tgtEl>
                                        <p:attrNameLst>
                                          <p:attrName>ppt_h</p:attrName>
                                        </p:attrNameLst>
                                      </p:cBhvr>
                                      <p:tavLst>
                                        <p:tav tm="0">
                                          <p:val>
                                            <p:fltVal val="0"/>
                                          </p:val>
                                        </p:tav>
                                        <p:tav tm="100000">
                                          <p:val>
                                            <p:strVal val="#ppt_h"/>
                                          </p:val>
                                        </p:tav>
                                      </p:tavLst>
                                    </p:anim>
                                    <p:animEffect transition="in" filter="fade">
                                      <p:cBhvr>
                                        <p:cTn id="39" dur="1000"/>
                                        <p:tgtEl>
                                          <p:spTgt spid="33"/>
                                        </p:tgtEl>
                                      </p:cBhvr>
                                    </p:animEffect>
                                  </p:childTnLst>
                                </p:cTn>
                              </p:par>
                              <p:par>
                                <p:cTn id="40" presetID="35" presetClass="path" presetSubtype="0" accel="50000" decel="50000" fill="hold" nodeType="withEffect">
                                  <p:stCondLst>
                                    <p:cond delay="0"/>
                                  </p:stCondLst>
                                  <p:childTnLst>
                                    <p:animMotion origin="layout" path="M 6.25E-7 -1.11111E-6 L 0.31575 -1.11111E-6 " pathEditMode="relative" rAng="0" ptsTypes="AA">
                                      <p:cBhvr>
                                        <p:cTn id="41" dur="2000" spd="-100000" fill="hold"/>
                                        <p:tgtEl>
                                          <p:spTgt spid="33"/>
                                        </p:tgtEl>
                                        <p:attrNameLst>
                                          <p:attrName>ppt_x</p:attrName>
                                          <p:attrName>ppt_y</p:attrName>
                                        </p:attrNameLst>
                                      </p:cBhvr>
                                      <p:rCtr x="15781" y="0"/>
                                    </p:animMotion>
                                  </p:childTnLst>
                                </p:cTn>
                              </p:par>
                              <p:par>
                                <p:cTn id="42" presetID="53" presetClass="entr" presetSubtype="16"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 calcmode="lin" valueType="num">
                                      <p:cBhvr>
                                        <p:cTn id="44" dur="1000" fill="hold"/>
                                        <p:tgtEl>
                                          <p:spTgt spid="38"/>
                                        </p:tgtEl>
                                        <p:attrNameLst>
                                          <p:attrName>ppt_w</p:attrName>
                                        </p:attrNameLst>
                                      </p:cBhvr>
                                      <p:tavLst>
                                        <p:tav tm="0">
                                          <p:val>
                                            <p:fltVal val="0"/>
                                          </p:val>
                                        </p:tav>
                                        <p:tav tm="100000">
                                          <p:val>
                                            <p:strVal val="#ppt_w"/>
                                          </p:val>
                                        </p:tav>
                                      </p:tavLst>
                                    </p:anim>
                                    <p:anim calcmode="lin" valueType="num">
                                      <p:cBhvr>
                                        <p:cTn id="45" dur="1000" fill="hold"/>
                                        <p:tgtEl>
                                          <p:spTgt spid="38"/>
                                        </p:tgtEl>
                                        <p:attrNameLst>
                                          <p:attrName>ppt_h</p:attrName>
                                        </p:attrNameLst>
                                      </p:cBhvr>
                                      <p:tavLst>
                                        <p:tav tm="0">
                                          <p:val>
                                            <p:fltVal val="0"/>
                                          </p:val>
                                        </p:tav>
                                        <p:tav tm="100000">
                                          <p:val>
                                            <p:strVal val="#ppt_h"/>
                                          </p:val>
                                        </p:tav>
                                      </p:tavLst>
                                    </p:anim>
                                    <p:animEffect transition="in" filter="fade">
                                      <p:cBhvr>
                                        <p:cTn id="46" dur="1000"/>
                                        <p:tgtEl>
                                          <p:spTgt spid="38"/>
                                        </p:tgtEl>
                                      </p:cBhvr>
                                    </p:animEffect>
                                  </p:childTnLst>
                                </p:cTn>
                              </p:par>
                              <p:par>
                                <p:cTn id="47" presetID="35" presetClass="path" presetSubtype="0" accel="50000" decel="50000" fill="hold" grpId="1" nodeType="withEffect">
                                  <p:stCondLst>
                                    <p:cond delay="0"/>
                                  </p:stCondLst>
                                  <p:childTnLst>
                                    <p:animMotion origin="layout" path="M 4.79167E-6 -2.59259E-6 L 0.31575 -2.59259E-6 " pathEditMode="relative" rAng="0" ptsTypes="AA">
                                      <p:cBhvr>
                                        <p:cTn id="48" dur="2000" spd="-100000" fill="hold"/>
                                        <p:tgtEl>
                                          <p:spTgt spid="38"/>
                                        </p:tgtEl>
                                        <p:attrNameLst>
                                          <p:attrName>ppt_x</p:attrName>
                                          <p:attrName>ppt_y</p:attrName>
                                        </p:attrNameLst>
                                      </p:cBhvr>
                                      <p:rCtr x="15781" y="0"/>
                                    </p:animMotion>
                                  </p:childTnLst>
                                </p:cTn>
                              </p:par>
                            </p:childTnLst>
                          </p:cTn>
                        </p:par>
                        <p:par>
                          <p:cTn id="49" fill="hold">
                            <p:stCondLst>
                              <p:cond delay="4000"/>
                            </p:stCondLst>
                            <p:childTnLst>
                              <p:par>
                                <p:cTn id="50" presetID="53" presetClass="entr" presetSubtype="16" fill="hold" nodeType="afterEffect">
                                  <p:stCondLst>
                                    <p:cond delay="0"/>
                                  </p:stCondLst>
                                  <p:childTnLst>
                                    <p:set>
                                      <p:cBhvr>
                                        <p:cTn id="51" dur="1" fill="hold">
                                          <p:stCondLst>
                                            <p:cond delay="0"/>
                                          </p:stCondLst>
                                        </p:cTn>
                                        <p:tgtEl>
                                          <p:spTgt spid="40"/>
                                        </p:tgtEl>
                                        <p:attrNameLst>
                                          <p:attrName>style.visibility</p:attrName>
                                        </p:attrNameLst>
                                      </p:cBhvr>
                                      <p:to>
                                        <p:strVal val="visible"/>
                                      </p:to>
                                    </p:set>
                                    <p:anim calcmode="lin" valueType="num">
                                      <p:cBhvr>
                                        <p:cTn id="52" dur="1000" fill="hold"/>
                                        <p:tgtEl>
                                          <p:spTgt spid="40"/>
                                        </p:tgtEl>
                                        <p:attrNameLst>
                                          <p:attrName>ppt_w</p:attrName>
                                        </p:attrNameLst>
                                      </p:cBhvr>
                                      <p:tavLst>
                                        <p:tav tm="0">
                                          <p:val>
                                            <p:fltVal val="0"/>
                                          </p:val>
                                        </p:tav>
                                        <p:tav tm="100000">
                                          <p:val>
                                            <p:strVal val="#ppt_w"/>
                                          </p:val>
                                        </p:tav>
                                      </p:tavLst>
                                    </p:anim>
                                    <p:anim calcmode="lin" valueType="num">
                                      <p:cBhvr>
                                        <p:cTn id="53" dur="1000" fill="hold"/>
                                        <p:tgtEl>
                                          <p:spTgt spid="40"/>
                                        </p:tgtEl>
                                        <p:attrNameLst>
                                          <p:attrName>ppt_h</p:attrName>
                                        </p:attrNameLst>
                                      </p:cBhvr>
                                      <p:tavLst>
                                        <p:tav tm="0">
                                          <p:val>
                                            <p:fltVal val="0"/>
                                          </p:val>
                                        </p:tav>
                                        <p:tav tm="100000">
                                          <p:val>
                                            <p:strVal val="#ppt_h"/>
                                          </p:val>
                                        </p:tav>
                                      </p:tavLst>
                                    </p:anim>
                                    <p:animEffect transition="in" filter="fade">
                                      <p:cBhvr>
                                        <p:cTn id="54" dur="1000"/>
                                        <p:tgtEl>
                                          <p:spTgt spid="40"/>
                                        </p:tgtEl>
                                      </p:cBhvr>
                                    </p:animEffect>
                                  </p:childTnLst>
                                </p:cTn>
                              </p:par>
                              <p:par>
                                <p:cTn id="55" presetID="35" presetClass="path" presetSubtype="0" accel="50000" decel="50000" fill="hold" nodeType="withEffect">
                                  <p:stCondLst>
                                    <p:cond delay="0"/>
                                  </p:stCondLst>
                                  <p:childTnLst>
                                    <p:animMotion origin="layout" path="M -1.04167E-6 -2.96296E-6 L 0.31576 -2.96296E-6 " pathEditMode="relative" rAng="0" ptsTypes="AA">
                                      <p:cBhvr>
                                        <p:cTn id="56" dur="2000" spd="-100000" fill="hold"/>
                                        <p:tgtEl>
                                          <p:spTgt spid="40"/>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1" grpId="0"/>
      <p:bldP spid="31" grpId="1"/>
      <p:bldP spid="32" grpId="0" animBg="1"/>
      <p:bldP spid="38" grpId="0"/>
      <p:bldP spid="38"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566737" y="5026146"/>
            <a:ext cx="11058525" cy="1819275"/>
          </a:xfrm>
          <a:prstGeom prst="rect">
            <a:avLst/>
          </a:prstGeom>
        </p:spPr>
      </p:pic>
      <p:pic>
        <p:nvPicPr>
          <p:cNvPr id="11" name="图片 10"/>
          <p:cNvPicPr>
            <a:picLocks noChangeAspect="1"/>
          </p:cNvPicPr>
          <p:nvPr/>
        </p:nvPicPr>
        <p:blipFill>
          <a:blip r:embed="rId2"/>
          <a:stretch>
            <a:fillRect/>
          </a:stretch>
        </p:blipFill>
        <p:spPr>
          <a:xfrm flipH="1">
            <a:off x="470171" y="4749667"/>
            <a:ext cx="2036340" cy="848475"/>
          </a:xfrm>
          <a:prstGeom prst="rect">
            <a:avLst/>
          </a:prstGeom>
        </p:spPr>
      </p:pic>
      <p:cxnSp>
        <p:nvCxnSpPr>
          <p:cNvPr id="12" name="直接连接符 11"/>
          <p:cNvCxnSpPr/>
          <p:nvPr/>
        </p:nvCxnSpPr>
        <p:spPr>
          <a:xfrm>
            <a:off x="2034090" y="1924337"/>
            <a:ext cx="8872619" cy="0"/>
          </a:xfrm>
          <a:prstGeom prst="line">
            <a:avLst/>
          </a:prstGeom>
          <a:ln>
            <a:solidFill>
              <a:srgbClr val="D30013"/>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1881709" y="1012222"/>
            <a:ext cx="3217515" cy="829945"/>
            <a:chOff x="5169025" y="988171"/>
            <a:chExt cx="3335654" cy="860417"/>
          </a:xfrm>
        </p:grpSpPr>
        <p:sp>
          <p:nvSpPr>
            <p:cNvPr id="14" name="矩形 13"/>
            <p:cNvSpPr/>
            <p:nvPr/>
          </p:nvSpPr>
          <p:spPr>
            <a:xfrm>
              <a:off x="5169025" y="988171"/>
              <a:ext cx="2728060" cy="860417"/>
            </a:xfrm>
            <a:prstGeom prst="rect">
              <a:avLst/>
            </a:prstGeom>
          </p:spPr>
          <p:txBody>
            <a:bodyPr wrap="none">
              <a:spAutoFit/>
            </a:bodyPr>
            <a:lstStyle/>
            <a:p>
              <a:r>
                <a:rPr lang="zh-CN" altLang="en-US" sz="4800" b="1"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rPr>
                <a:t>时代背景</a:t>
              </a:r>
              <a:endParaRPr lang="zh-CN" altLang="en-US" sz="4800" b="1"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endParaRPr>
            </a:p>
          </p:txBody>
        </p:sp>
        <p:sp>
          <p:nvSpPr>
            <p:cNvPr id="15" name="矩形 14"/>
            <p:cNvSpPr/>
            <p:nvPr/>
          </p:nvSpPr>
          <p:spPr>
            <a:xfrm>
              <a:off x="8183421" y="1093876"/>
              <a:ext cx="321258" cy="668848"/>
            </a:xfrm>
            <a:prstGeom prst="rect">
              <a:avLst/>
            </a:prstGeom>
          </p:spPr>
          <p:txBody>
            <a:bodyPr wrap="none">
              <a:spAutoFit/>
            </a:bodyPr>
            <a:lstStyle/>
            <a:p>
              <a:endParaRPr lang="zh-CN" altLang="en-US" sz="3600" dirty="0">
                <a:solidFill>
                  <a:srgbClr val="D30013"/>
                </a:solidFill>
                <a:latin typeface="字体视界-NEW魏碑体" panose="02010601030101010101" pitchFamily="2" charset="-122"/>
                <a:ea typeface="字体视界-NEW魏碑体" panose="02010601030101010101" pitchFamily="2" charset="-122"/>
                <a:cs typeface="方正苏新诗柳楷简体-yolan" panose="02000000000000000000" pitchFamily="2" charset="-122"/>
              </a:endParaRPr>
            </a:p>
          </p:txBody>
        </p:sp>
      </p:grpSp>
      <p:sp>
        <p:nvSpPr>
          <p:cNvPr id="16" name="矩形 15"/>
          <p:cNvSpPr/>
          <p:nvPr/>
        </p:nvSpPr>
        <p:spPr>
          <a:xfrm>
            <a:off x="1881505" y="2251075"/>
            <a:ext cx="9103360" cy="2365375"/>
          </a:xfrm>
          <a:prstGeom prst="rect">
            <a:avLst/>
          </a:prstGeom>
        </p:spPr>
        <p:txBody>
          <a:bodyPr wrap="square">
            <a:noAutofit/>
          </a:bodyPr>
          <a:lstStyle/>
          <a:p>
            <a:pPr>
              <a:lnSpc>
                <a:spcPct val="150000"/>
              </a:lnSpc>
              <a:buClr>
                <a:srgbClr val="C00000"/>
              </a:buClr>
              <a:defRPr/>
            </a:pPr>
            <a:r>
              <a:rPr sz="2000" dirty="0">
                <a:latin typeface="字体视界-NEW魏碑体" panose="02010601030101010101" pitchFamily="2" charset="-122"/>
                <a:ea typeface="字体视界-NEW魏碑体" panose="02010601030101010101" pitchFamily="2" charset="-122"/>
              </a:rPr>
              <a:t>1931年“九一八”事变后，在蒋介石“绝不能抵抗”的命令下，中中国东北军撤至山海关以南，致使日本关东军在短短两、三个月时间内占领了整个东三省</a:t>
            </a:r>
            <a:r>
              <a:rPr lang="zh-CN" sz="2000" dirty="0">
                <a:latin typeface="字体视界-NEW魏碑体" panose="02010601030101010101" pitchFamily="2" charset="-122"/>
                <a:ea typeface="字体视界-NEW魏碑体" panose="02010601030101010101" pitchFamily="2" charset="-122"/>
              </a:rPr>
              <a:t>。</a:t>
            </a:r>
            <a:r>
              <a:rPr sz="2000" dirty="0">
                <a:latin typeface="字体视界-NEW魏碑体" panose="02010601030101010101" pitchFamily="2" charset="-122"/>
                <a:ea typeface="字体视界-NEW魏碑体" panose="02010601030101010101" pitchFamily="2" charset="-122"/>
              </a:rPr>
              <a:t>1935年6月，日军开始向我华北地区步步进逼。</a:t>
            </a:r>
            <a:r>
              <a:rPr sz="2000" dirty="0">
                <a:latin typeface="字体视界-NEW魏碑体" panose="02010601030101010101" pitchFamily="2" charset="-122"/>
                <a:ea typeface="字体视界-NEW魏碑体" panose="02010601030101010101" pitchFamily="2" charset="-122"/>
                <a:sym typeface="+mn-ea"/>
              </a:rPr>
              <a:t>论持久战的写作背景可追溯到1937年8月的抗日战争初期。当时，日军采取了所谓的“速决战略”，以快速占领中国主要城市为目标，试图在短期内结束战争。</a:t>
            </a:r>
            <a:endParaRPr sz="2000" dirty="0">
              <a:latin typeface="字体视界-NEW魏碑体" panose="02010601030101010101" pitchFamily="2" charset="-122"/>
              <a:ea typeface="字体视界-NEW魏碑体" panose="02010601030101010101" pitchFamily="2" charset="-122"/>
            </a:endParaRPr>
          </a:p>
        </p:txBody>
      </p:sp>
      <p:pic>
        <p:nvPicPr>
          <p:cNvPr id="18" name="图片 17"/>
          <p:cNvPicPr>
            <a:picLocks noChangeAspect="1"/>
          </p:cNvPicPr>
          <p:nvPr/>
        </p:nvPicPr>
        <p:blipFill>
          <a:blip r:embed="rId2"/>
          <a:stretch>
            <a:fillRect/>
          </a:stretch>
        </p:blipFill>
        <p:spPr>
          <a:xfrm>
            <a:off x="8614508" y="595472"/>
            <a:ext cx="2857500" cy="11906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750"/>
                                        <p:tgtEl>
                                          <p:spTgt spid="13"/>
                                        </p:tgtEl>
                                      </p:cBhvr>
                                    </p:animEffect>
                                  </p:childTnLst>
                                </p:cTn>
                              </p:par>
                            </p:childTnLst>
                          </p:cTn>
                        </p:par>
                        <p:par>
                          <p:cTn id="19" fill="hold">
                            <p:stCondLst>
                              <p:cond delay="2500"/>
                            </p:stCondLst>
                            <p:childTnLst>
                              <p:par>
                                <p:cTn id="20" presetID="22" presetClass="entr" presetSubtype="8"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par>
                          <p:cTn id="23" fill="hold">
                            <p:stCondLst>
                              <p:cond delay="3000"/>
                            </p:stCondLst>
                            <p:childTnLst>
                              <p:par>
                                <p:cTn id="24" presetID="42" presetClass="entr" presetSubtype="0" fill="hold" grpId="0" nodeType="afterEffect">
                                  <p:stCondLst>
                                    <p:cond delay="0"/>
                                  </p:stCondLst>
                                  <p:iterate type="lt">
                                    <p:tmPct val="1554"/>
                                  </p:iterate>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childTnLst>
                          </p:cTn>
                        </p:par>
                        <p:par>
                          <p:cTn id="29" fill="hold">
                            <p:stCondLst>
                              <p:cond delay="6314"/>
                            </p:stCondLst>
                            <p:childTnLst>
                              <p:par>
                                <p:cTn id="30" presetID="53" presetClass="entr" presetSubtype="16" fill="hold" nodeType="after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p:cTn id="32" dur="1000" fill="hold"/>
                                        <p:tgtEl>
                                          <p:spTgt spid="18"/>
                                        </p:tgtEl>
                                        <p:attrNameLst>
                                          <p:attrName>ppt_w</p:attrName>
                                        </p:attrNameLst>
                                      </p:cBhvr>
                                      <p:tavLst>
                                        <p:tav tm="0">
                                          <p:val>
                                            <p:fltVal val="0"/>
                                          </p:val>
                                        </p:tav>
                                        <p:tav tm="100000">
                                          <p:val>
                                            <p:strVal val="#ppt_w"/>
                                          </p:val>
                                        </p:tav>
                                      </p:tavLst>
                                    </p:anim>
                                    <p:anim calcmode="lin" valueType="num">
                                      <p:cBhvr>
                                        <p:cTn id="33" dur="1000" fill="hold"/>
                                        <p:tgtEl>
                                          <p:spTgt spid="18"/>
                                        </p:tgtEl>
                                        <p:attrNameLst>
                                          <p:attrName>ppt_h</p:attrName>
                                        </p:attrNameLst>
                                      </p:cBhvr>
                                      <p:tavLst>
                                        <p:tav tm="0">
                                          <p:val>
                                            <p:fltVal val="0"/>
                                          </p:val>
                                        </p:tav>
                                        <p:tav tm="100000">
                                          <p:val>
                                            <p:strVal val="#ppt_h"/>
                                          </p:val>
                                        </p:tav>
                                      </p:tavLst>
                                    </p:anim>
                                    <p:animEffect transition="in" filter="fade">
                                      <p:cBhvr>
                                        <p:cTn id="34" dur="1000"/>
                                        <p:tgtEl>
                                          <p:spTgt spid="18"/>
                                        </p:tgtEl>
                                      </p:cBhvr>
                                    </p:animEffect>
                                  </p:childTnLst>
                                </p:cTn>
                              </p:par>
                              <p:par>
                                <p:cTn id="35" presetID="35" presetClass="path" presetSubtype="0" accel="50000" decel="50000" fill="hold" nodeType="withEffect">
                                  <p:stCondLst>
                                    <p:cond delay="0"/>
                                  </p:stCondLst>
                                  <p:childTnLst>
                                    <p:animMotion origin="layout" path="M 2.08333E-6 -1.11111E-6 L 0.31575 -1.11111E-6 " pathEditMode="relative" rAng="0" ptsTypes="AA">
                                      <p:cBhvr>
                                        <p:cTn id="36" dur="2000" spd="-100000" fill="hold"/>
                                        <p:tgtEl>
                                          <p:spTgt spid="18"/>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2" cstate="screen"/>
          <a:stretch>
            <a:fillRect/>
          </a:stretch>
        </p:blipFill>
        <p:spPr>
          <a:xfrm>
            <a:off x="0" y="4049960"/>
            <a:ext cx="4460240" cy="2788989"/>
          </a:xfrm>
          <a:prstGeom prst="rect">
            <a:avLst/>
          </a:prstGeom>
        </p:spPr>
      </p:pic>
      <p:sp>
        <p:nvSpPr>
          <p:cNvPr id="39" name="TextBox 15"/>
          <p:cNvSpPr txBox="1"/>
          <p:nvPr/>
        </p:nvSpPr>
        <p:spPr>
          <a:xfrm>
            <a:off x="2003170" y="2808040"/>
            <a:ext cx="2457070" cy="769441"/>
          </a:xfrm>
          <a:prstGeom prst="rect">
            <a:avLst/>
          </a:prstGeom>
          <a:noFill/>
        </p:spPr>
        <p:txBody>
          <a:bodyPr wrap="square" rtlCol="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目 录</a:t>
            </a:r>
            <a:endParaRPr kumimoji="0" lang="zh-CN" altLang="en-US" sz="4400" b="1" i="0" u="none" strike="noStrike" kern="120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endParaRPr>
          </a:p>
        </p:txBody>
      </p:sp>
      <p:sp>
        <p:nvSpPr>
          <p:cNvPr id="40" name="TextBox 20"/>
          <p:cNvSpPr txBox="1"/>
          <p:nvPr/>
        </p:nvSpPr>
        <p:spPr>
          <a:xfrm>
            <a:off x="1671009" y="3483444"/>
            <a:ext cx="3225562" cy="369332"/>
          </a:xfrm>
          <a:prstGeom prst="rect">
            <a:avLst/>
          </a:prstGeom>
          <a:noFill/>
        </p:spPr>
        <p:txBody>
          <a:bodyPr wrap="square" rtlCol="0" anchor="ctr">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60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CONTENTS</a:t>
            </a:r>
            <a:endParaRPr kumimoji="0" lang="zh-CN" altLang="en-US" sz="1800" b="0" i="0" u="none" strike="noStrike" kern="1200" cap="none" spc="60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endParaRPr>
          </a:p>
        </p:txBody>
      </p:sp>
      <p:grpSp>
        <p:nvGrpSpPr>
          <p:cNvPr id="41" name="组合 40"/>
          <p:cNvGrpSpPr/>
          <p:nvPr>
            <p:custDataLst>
              <p:tags r:id="rId3"/>
            </p:custDataLst>
          </p:nvPr>
        </p:nvGrpSpPr>
        <p:grpSpPr>
          <a:xfrm>
            <a:off x="4597471" y="1546321"/>
            <a:ext cx="5776881" cy="453090"/>
            <a:chOff x="4946493" y="1597309"/>
            <a:chExt cx="5776881" cy="453090"/>
          </a:xfrm>
        </p:grpSpPr>
        <p:grpSp>
          <p:nvGrpSpPr>
            <p:cNvPr id="42" name="组合 41"/>
            <p:cNvGrpSpPr/>
            <p:nvPr/>
          </p:nvGrpSpPr>
          <p:grpSpPr>
            <a:xfrm>
              <a:off x="4946493" y="1597309"/>
              <a:ext cx="5776881" cy="453090"/>
              <a:chOff x="1363751" y="2406894"/>
              <a:chExt cx="5563001" cy="453090"/>
            </a:xfrm>
          </p:grpSpPr>
          <p:sp>
            <p:nvSpPr>
              <p:cNvPr id="44" name="TextBox 35"/>
              <p:cNvSpPr txBox="1"/>
              <p:nvPr>
                <p:custDataLst>
                  <p:tags r:id="rId4"/>
                </p:custDataLst>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endPar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endParaRPr>
              </a:p>
            </p:txBody>
          </p:sp>
          <p:grpSp>
            <p:nvGrpSpPr>
              <p:cNvPr id="45" name="组合 44"/>
              <p:cNvGrpSpPr/>
              <p:nvPr/>
            </p:nvGrpSpPr>
            <p:grpSpPr>
              <a:xfrm rot="16200000">
                <a:off x="3971555" y="-151581"/>
                <a:ext cx="347394" cy="5563001"/>
                <a:chOff x="1861559" y="2468597"/>
                <a:chExt cx="1872217" cy="5563001"/>
              </a:xfrm>
            </p:grpSpPr>
            <p:sp>
              <p:nvSpPr>
                <p:cNvPr id="47" name="圆角矩形 10"/>
                <p:cNvSpPr/>
                <p:nvPr>
                  <p:custDataLst>
                    <p:tags r:id="rId5"/>
                  </p:custDataLst>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48" name="圆角矩形 11"/>
                <p:cNvSpPr/>
                <p:nvPr>
                  <p:custDataLst>
                    <p:tags r:id="rId6"/>
                  </p:custDataLst>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46" name="TextBox 20"/>
              <p:cNvSpPr txBox="1"/>
              <p:nvPr>
                <p:custDataLst>
                  <p:tags r:id="rId7"/>
                </p:custDataLst>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rPr>
                  <a:t>01</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43" name="文本框 21"/>
            <p:cNvSpPr txBox="1">
              <a:spLocks noChangeArrowheads="1"/>
            </p:cNvSpPr>
            <p:nvPr>
              <p:custDataLst>
                <p:tags r:id="rId8"/>
              </p:custDataLst>
            </p:nvPr>
          </p:nvSpPr>
          <p:spPr bwMode="auto">
            <a:xfrm>
              <a:off x="5905284" y="1645429"/>
              <a:ext cx="457814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毛泽东发表《论持久战》</a:t>
              </a:r>
              <a:r>
                <a:rPr lang="en-US" altLang="zh-CN" sz="2000" b="1" dirty="0">
                  <a:solidFill>
                    <a:srgbClr val="C00000"/>
                  </a:solidFill>
                  <a:latin typeface="字体视界-NEW魏碑体" panose="02010601030101010101" pitchFamily="2" charset="-122"/>
                  <a:ea typeface="字体视界-NEW魏碑体" panose="02010601030101010101" pitchFamily="2" charset="-122"/>
                </a:rPr>
                <a:t> </a:t>
              </a:r>
              <a:endParaRPr lang="en-US" altLang="zh-CN" sz="2000" b="1" dirty="0">
                <a:solidFill>
                  <a:srgbClr val="C00000"/>
                </a:solidFill>
                <a:latin typeface="字体视界-NEW魏碑体" panose="02010601030101010101" pitchFamily="2" charset="-122"/>
                <a:ea typeface="字体视界-NEW魏碑体" panose="02010601030101010101" pitchFamily="2" charset="-122"/>
              </a:endParaRPr>
            </a:p>
          </p:txBody>
        </p:sp>
      </p:grpSp>
      <p:grpSp>
        <p:nvGrpSpPr>
          <p:cNvPr id="49" name="组合 48"/>
          <p:cNvGrpSpPr/>
          <p:nvPr>
            <p:custDataLst>
              <p:tags r:id="rId9"/>
            </p:custDataLst>
          </p:nvPr>
        </p:nvGrpSpPr>
        <p:grpSpPr>
          <a:xfrm>
            <a:off x="4585771" y="2355810"/>
            <a:ext cx="5776881" cy="514845"/>
            <a:chOff x="4946493" y="1597309"/>
            <a:chExt cx="5776881" cy="514845"/>
          </a:xfrm>
        </p:grpSpPr>
        <p:grpSp>
          <p:nvGrpSpPr>
            <p:cNvPr id="50" name="组合 49"/>
            <p:cNvGrpSpPr/>
            <p:nvPr/>
          </p:nvGrpSpPr>
          <p:grpSpPr>
            <a:xfrm>
              <a:off x="4946493" y="1597309"/>
              <a:ext cx="5776881" cy="453090"/>
              <a:chOff x="1363751" y="2406894"/>
              <a:chExt cx="5563001" cy="453090"/>
            </a:xfrm>
          </p:grpSpPr>
          <p:sp>
            <p:nvSpPr>
              <p:cNvPr id="52" name="TextBox 35"/>
              <p:cNvSpPr txBox="1"/>
              <p:nvPr>
                <p:custDataLst>
                  <p:tags r:id="rId10"/>
                </p:custDataLst>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endPar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endParaRPr>
              </a:p>
            </p:txBody>
          </p:sp>
          <p:grpSp>
            <p:nvGrpSpPr>
              <p:cNvPr id="53" name="组合 52"/>
              <p:cNvGrpSpPr/>
              <p:nvPr/>
            </p:nvGrpSpPr>
            <p:grpSpPr>
              <a:xfrm rot="16200000">
                <a:off x="3971555" y="-151581"/>
                <a:ext cx="347394" cy="5563001"/>
                <a:chOff x="1861559" y="2468597"/>
                <a:chExt cx="1872217" cy="5563001"/>
              </a:xfrm>
            </p:grpSpPr>
            <p:sp>
              <p:nvSpPr>
                <p:cNvPr id="55" name="圆角矩形 10"/>
                <p:cNvSpPr/>
                <p:nvPr>
                  <p:custDataLst>
                    <p:tags r:id="rId11"/>
                  </p:custDataLst>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56" name="圆角矩形 11"/>
                <p:cNvSpPr/>
                <p:nvPr>
                  <p:custDataLst>
                    <p:tags r:id="rId12"/>
                  </p:custDataLst>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54" name="TextBox 20"/>
              <p:cNvSpPr txBox="1"/>
              <p:nvPr>
                <p:custDataLst>
                  <p:tags r:id="rId13"/>
                </p:custDataLst>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F6F2EA"/>
                    </a:solidFill>
                    <a:effectLst/>
                    <a:uLnTx/>
                    <a:uFillTx/>
                    <a:latin typeface="字体视界-NEW魏碑体" panose="02010601030101010101" pitchFamily="2" charset="-122"/>
                    <a:ea typeface="字体视界-NEW魏碑体" panose="02010601030101010101" pitchFamily="2" charset="-122"/>
                  </a:rPr>
                  <a:t>02</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51" name="文本框 21"/>
            <p:cNvSpPr txBox="1">
              <a:spLocks noChangeArrowheads="1"/>
            </p:cNvSpPr>
            <p:nvPr>
              <p:custDataLst>
                <p:tags r:id="rId14"/>
              </p:custDataLst>
            </p:nvPr>
          </p:nvSpPr>
          <p:spPr bwMode="auto">
            <a:xfrm>
              <a:off x="5856389" y="1713374"/>
              <a:ext cx="457814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sym typeface="+mn-ea"/>
                </a:rPr>
                <a:t>《论持久战》的内容精要</a:t>
              </a:r>
              <a:endParaRPr lang="zh-CN" altLang="en-US" sz="2000" b="1" dirty="0">
                <a:solidFill>
                  <a:srgbClr val="C00000"/>
                </a:solidFill>
                <a:latin typeface="字体视界-NEW魏碑体" panose="02010601030101010101" pitchFamily="2" charset="-122"/>
                <a:ea typeface="字体视界-NEW魏碑体" panose="02010601030101010101" pitchFamily="2" charset="-122"/>
              </a:endParaRPr>
            </a:p>
          </p:txBody>
        </p:sp>
      </p:grpSp>
      <p:grpSp>
        <p:nvGrpSpPr>
          <p:cNvPr id="57" name="组合 56"/>
          <p:cNvGrpSpPr/>
          <p:nvPr>
            <p:custDataLst>
              <p:tags r:id="rId15"/>
            </p:custDataLst>
          </p:nvPr>
        </p:nvGrpSpPr>
        <p:grpSpPr>
          <a:xfrm>
            <a:off x="4597471" y="3245178"/>
            <a:ext cx="5776881" cy="453090"/>
            <a:chOff x="4946493" y="1597309"/>
            <a:chExt cx="5776881" cy="453090"/>
          </a:xfrm>
        </p:grpSpPr>
        <p:grpSp>
          <p:nvGrpSpPr>
            <p:cNvPr id="58" name="组合 57"/>
            <p:cNvGrpSpPr/>
            <p:nvPr/>
          </p:nvGrpSpPr>
          <p:grpSpPr>
            <a:xfrm>
              <a:off x="4946493" y="1597309"/>
              <a:ext cx="5776881" cy="453090"/>
              <a:chOff x="1363751" y="2406894"/>
              <a:chExt cx="5563001" cy="453090"/>
            </a:xfrm>
          </p:grpSpPr>
          <p:sp>
            <p:nvSpPr>
              <p:cNvPr id="60" name="TextBox 35"/>
              <p:cNvSpPr txBox="1"/>
              <p:nvPr>
                <p:custDataLst>
                  <p:tags r:id="rId16"/>
                </p:custDataLst>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endPar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endParaRPr>
              </a:p>
            </p:txBody>
          </p:sp>
          <p:grpSp>
            <p:nvGrpSpPr>
              <p:cNvPr id="61" name="组合 60"/>
              <p:cNvGrpSpPr/>
              <p:nvPr/>
            </p:nvGrpSpPr>
            <p:grpSpPr>
              <a:xfrm rot="16200000">
                <a:off x="3971555" y="-151581"/>
                <a:ext cx="347394" cy="5563001"/>
                <a:chOff x="1861559" y="2468597"/>
                <a:chExt cx="1872217" cy="5563001"/>
              </a:xfrm>
            </p:grpSpPr>
            <p:sp>
              <p:nvSpPr>
                <p:cNvPr id="63" name="圆角矩形 10"/>
                <p:cNvSpPr/>
                <p:nvPr>
                  <p:custDataLst>
                    <p:tags r:id="rId17"/>
                  </p:custDataLst>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64" name="圆角矩形 11"/>
                <p:cNvSpPr/>
                <p:nvPr>
                  <p:custDataLst>
                    <p:tags r:id="rId18"/>
                  </p:custDataLst>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62" name="TextBox 20"/>
              <p:cNvSpPr txBox="1"/>
              <p:nvPr>
                <p:custDataLst>
                  <p:tags r:id="rId19"/>
                </p:custDataLst>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F6F2EA"/>
                    </a:solidFill>
                    <a:effectLst/>
                    <a:uLnTx/>
                    <a:uFillTx/>
                    <a:latin typeface="字体视界-NEW魏碑体" panose="02010601030101010101" pitchFamily="2" charset="-122"/>
                    <a:ea typeface="字体视界-NEW魏碑体" panose="02010601030101010101" pitchFamily="2" charset="-122"/>
                  </a:rPr>
                  <a:t>03</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59" name="文本框 21"/>
            <p:cNvSpPr txBox="1">
              <a:spLocks noChangeArrowheads="1"/>
            </p:cNvSpPr>
            <p:nvPr>
              <p:custDataLst>
                <p:tags r:id="rId20"/>
              </p:custDataLst>
            </p:nvPr>
          </p:nvSpPr>
          <p:spPr bwMode="auto">
            <a:xfrm>
              <a:off x="5905284" y="1645429"/>
              <a:ext cx="457814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《论持久战》中的经典语句</a:t>
              </a:r>
              <a:endParaRPr lang="zh-CN" altLang="en-US" sz="2000" b="1" dirty="0">
                <a:solidFill>
                  <a:srgbClr val="C00000"/>
                </a:solidFill>
                <a:latin typeface="字体视界-NEW魏碑体" panose="02010601030101010101" pitchFamily="2" charset="-122"/>
                <a:ea typeface="字体视界-NEW魏碑体" panose="02010601030101010101" pitchFamily="2" charset="-122"/>
              </a:endParaRPr>
            </a:p>
          </p:txBody>
        </p:sp>
      </p:grpSp>
      <p:grpSp>
        <p:nvGrpSpPr>
          <p:cNvPr id="65" name="组合 64"/>
          <p:cNvGrpSpPr/>
          <p:nvPr>
            <p:custDataLst>
              <p:tags r:id="rId21"/>
            </p:custDataLst>
          </p:nvPr>
        </p:nvGrpSpPr>
        <p:grpSpPr>
          <a:xfrm>
            <a:off x="4597471" y="4065865"/>
            <a:ext cx="5776881" cy="453090"/>
            <a:chOff x="4946493" y="1597309"/>
            <a:chExt cx="5776881" cy="453090"/>
          </a:xfrm>
        </p:grpSpPr>
        <p:grpSp>
          <p:nvGrpSpPr>
            <p:cNvPr id="66" name="组合 65"/>
            <p:cNvGrpSpPr/>
            <p:nvPr/>
          </p:nvGrpSpPr>
          <p:grpSpPr>
            <a:xfrm>
              <a:off x="4946493" y="1597309"/>
              <a:ext cx="5776881" cy="453090"/>
              <a:chOff x="1363751" y="2406894"/>
              <a:chExt cx="5563001" cy="453090"/>
            </a:xfrm>
          </p:grpSpPr>
          <p:sp>
            <p:nvSpPr>
              <p:cNvPr id="68" name="TextBox 35"/>
              <p:cNvSpPr txBox="1"/>
              <p:nvPr>
                <p:custDataLst>
                  <p:tags r:id="rId22"/>
                </p:custDataLst>
              </p:nvPr>
            </p:nvSpPr>
            <p:spPr>
              <a:xfrm rot="16200000">
                <a:off x="3910391" y="-111448"/>
                <a:ext cx="448412" cy="5485096"/>
              </a:xfrm>
              <a:prstGeom prst="rect">
                <a:avLst/>
              </a:prstGeom>
              <a:noFill/>
              <a:ln w="9525" cap="flat" cmpd="sng" algn="ctr">
                <a:solidFill>
                  <a:srgbClr val="C00000"/>
                </a:solidFill>
                <a:prstDash val="solid"/>
                <a:miter lim="800000"/>
              </a:ln>
              <a:effectLst>
                <a:innerShdw blurRad="127000" dist="88900" dir="18900000">
                  <a:prstClr val="black">
                    <a:alpha val="38000"/>
                  </a:prstClr>
                </a:innerShdw>
              </a:effectLst>
            </p:spPr>
            <p:txBody>
              <a:bodyPr vert="eaVert" lIns="0" tIns="0" rIns="0" bIns="360000" anchor="ctr"/>
              <a:lstStyle>
                <a:defPPr>
                  <a:defRPr lang="zh-CN"/>
                </a:defPPr>
                <a:lvl1pPr algn="ctr">
                  <a:defRPr sz="3200" kern="0">
                    <a:solidFill>
                      <a:prstClr val="white"/>
                    </a:solidFill>
                    <a:latin typeface="Calibri" panose="020F0502020204030204"/>
                    <a:ea typeface="宋体" panose="02010600030101010101"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1219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rPr>
                  <a:t> </a:t>
                </a:r>
                <a:endParaRPr kumimoji="0" lang="zh-CN" altLang="en-US" b="0" i="0" u="none" strike="noStrike" kern="0" cap="none" spc="0" normalizeH="0" baseline="0" noProof="0" dirty="0">
                  <a:ln>
                    <a:noFill/>
                  </a:ln>
                  <a:solidFill>
                    <a:srgbClr val="C00000"/>
                  </a:solidFill>
                  <a:effectLst/>
                  <a:uLnTx/>
                  <a:uFillTx/>
                  <a:latin typeface="字体视界-NEW魏碑体" panose="02010601030101010101" pitchFamily="2" charset="-122"/>
                  <a:ea typeface="字体视界-NEW魏碑体" panose="02010601030101010101" pitchFamily="2" charset="-122"/>
                </a:endParaRPr>
              </a:p>
            </p:txBody>
          </p:sp>
          <p:grpSp>
            <p:nvGrpSpPr>
              <p:cNvPr id="69" name="组合 68"/>
              <p:cNvGrpSpPr/>
              <p:nvPr/>
            </p:nvGrpSpPr>
            <p:grpSpPr>
              <a:xfrm rot="16200000">
                <a:off x="3971555" y="-151581"/>
                <a:ext cx="347394" cy="5563001"/>
                <a:chOff x="1861559" y="2468597"/>
                <a:chExt cx="1872217" cy="5563001"/>
              </a:xfrm>
            </p:grpSpPr>
            <p:sp>
              <p:nvSpPr>
                <p:cNvPr id="71" name="圆角矩形 10"/>
                <p:cNvSpPr/>
                <p:nvPr>
                  <p:custDataLst>
                    <p:tags r:id="rId23"/>
                  </p:custDataLst>
                </p:nvPr>
              </p:nvSpPr>
              <p:spPr>
                <a:xfrm>
                  <a:off x="1861559" y="2468597"/>
                  <a:ext cx="1872217"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sp>
              <p:nvSpPr>
                <p:cNvPr id="72" name="圆角矩形 11"/>
                <p:cNvSpPr/>
                <p:nvPr>
                  <p:custDataLst>
                    <p:tags r:id="rId24"/>
                  </p:custDataLst>
                </p:nvPr>
              </p:nvSpPr>
              <p:spPr>
                <a:xfrm>
                  <a:off x="1861575" y="7954129"/>
                  <a:ext cx="1872201" cy="77469"/>
                </a:xfrm>
                <a:prstGeom prst="roundRect">
                  <a:avLst>
                    <a:gd name="adj" fmla="val 50000"/>
                  </a:avLst>
                </a:prstGeom>
                <a:solidFill>
                  <a:srgbClr val="C00000"/>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字体视界-NEW魏碑体" panose="02010601030101010101" pitchFamily="2" charset="-122"/>
                    <a:ea typeface="字体视界-NEW魏碑体" panose="02010601030101010101" pitchFamily="2" charset="-122"/>
                  </a:endParaRPr>
                </a:p>
              </p:txBody>
            </p:sp>
          </p:grpSp>
          <p:sp>
            <p:nvSpPr>
              <p:cNvPr id="70" name="TextBox 20"/>
              <p:cNvSpPr txBox="1"/>
              <p:nvPr>
                <p:custDataLst>
                  <p:tags r:id="rId25"/>
                </p:custDataLst>
              </p:nvPr>
            </p:nvSpPr>
            <p:spPr>
              <a:xfrm>
                <a:off x="1615191" y="2410404"/>
                <a:ext cx="625157" cy="449580"/>
              </a:xfrm>
              <a:prstGeom prst="rect">
                <a:avLst/>
              </a:prstGeom>
              <a:solidFill>
                <a:srgbClr val="C00000"/>
              </a:solidFill>
            </p:spPr>
            <p:txBody>
              <a:bodyPr wrap="none" lIns="0" tIns="0" rIns="0" bIns="0" rtlCol="0" anchor="ctr">
                <a:no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a:ln>
                      <a:noFill/>
                    </a:ln>
                    <a:solidFill>
                      <a:srgbClr val="F6F2EA"/>
                    </a:solidFill>
                    <a:effectLst/>
                    <a:uLnTx/>
                    <a:uFillTx/>
                    <a:latin typeface="字体视界-NEW魏碑体" panose="02010601030101010101" pitchFamily="2" charset="-122"/>
                    <a:ea typeface="字体视界-NEW魏碑体" panose="02010601030101010101" pitchFamily="2" charset="-122"/>
                  </a:rPr>
                  <a:t>04</a:t>
                </a:r>
                <a:endParaRPr kumimoji="0" lang="zh-CN" altLang="en-US" sz="2400" b="1" i="0" u="none" strike="noStrike" kern="0" cap="none" spc="0" normalizeH="0" baseline="0" noProof="0" dirty="0">
                  <a:ln>
                    <a:noFill/>
                  </a:ln>
                  <a:solidFill>
                    <a:srgbClr val="F6F2EA"/>
                  </a:solidFill>
                  <a:effectLst/>
                  <a:uLnTx/>
                  <a:uFillTx/>
                  <a:latin typeface="字体视界-NEW魏碑体" panose="02010601030101010101" pitchFamily="2" charset="-122"/>
                  <a:ea typeface="字体视界-NEW魏碑体" panose="02010601030101010101" pitchFamily="2" charset="-122"/>
                </a:endParaRPr>
              </a:p>
            </p:txBody>
          </p:sp>
        </p:grpSp>
        <p:sp>
          <p:nvSpPr>
            <p:cNvPr id="67" name="文本框 21"/>
            <p:cNvSpPr txBox="1">
              <a:spLocks noChangeArrowheads="1"/>
            </p:cNvSpPr>
            <p:nvPr>
              <p:custDataLst>
                <p:tags r:id="rId26"/>
              </p:custDataLst>
            </p:nvPr>
          </p:nvSpPr>
          <p:spPr bwMode="auto">
            <a:xfrm>
              <a:off x="5905284" y="1645429"/>
              <a:ext cx="457814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C00000"/>
                  </a:solidFill>
                  <a:latin typeface="字体视界-NEW魏碑体" panose="02010601030101010101" pitchFamily="2" charset="-122"/>
                  <a:ea typeface="字体视界-NEW魏碑体" panose="02010601030101010101" pitchFamily="2" charset="-122"/>
                </a:rPr>
                <a:t>《论持久战》的现代意义</a:t>
              </a:r>
              <a:endParaRPr lang="zh-CN" altLang="en-US" sz="2000" b="1" dirty="0">
                <a:solidFill>
                  <a:srgbClr val="C00000"/>
                </a:solidFill>
                <a:latin typeface="字体视界-NEW魏碑体" panose="02010601030101010101" pitchFamily="2" charset="-122"/>
                <a:ea typeface="字体视界-NEW魏碑体" panose="02010601030101010101" pitchFamily="2" charset="-122"/>
              </a:endParaRPr>
            </a:p>
          </p:txBody>
        </p:sp>
      </p:grpSp>
      <p:pic>
        <p:nvPicPr>
          <p:cNvPr id="73" name="Picture 11" descr="F:\桌面\党政机关\素材\党徽\Nipic_20180988_201509091138025270001.png"/>
          <p:cNvPicPr>
            <a:picLocks noChangeAspect="1" noChangeArrowheads="1"/>
          </p:cNvPicPr>
          <p:nvPr/>
        </p:nvPicPr>
        <p:blipFill>
          <a:blip r:embed="rId27" cstate="print"/>
          <a:srcRect/>
          <a:stretch>
            <a:fillRect/>
          </a:stretch>
        </p:blipFill>
        <p:spPr bwMode="auto">
          <a:xfrm>
            <a:off x="2615035" y="1772866"/>
            <a:ext cx="1233339" cy="1009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图片 73"/>
          <p:cNvPicPr>
            <a:picLocks noChangeAspect="1"/>
          </p:cNvPicPr>
          <p:nvPr/>
        </p:nvPicPr>
        <p:blipFill>
          <a:blip r:embed="rId28"/>
          <a:stretch>
            <a:fillRect/>
          </a:stretch>
        </p:blipFill>
        <p:spPr>
          <a:xfrm rot="20902340" flipH="1">
            <a:off x="686735" y="622930"/>
            <a:ext cx="3143832" cy="130993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3"/>
                                        </p:tgtEl>
                                        <p:attrNameLst>
                                          <p:attrName>style.visibility</p:attrName>
                                        </p:attrNameLst>
                                      </p:cBhvr>
                                      <p:to>
                                        <p:strVal val="visible"/>
                                      </p:to>
                                    </p:set>
                                    <p:anim calcmode="lin" valueType="num">
                                      <p:cBhvr>
                                        <p:cTn id="17" dur="500" fill="hold"/>
                                        <p:tgtEl>
                                          <p:spTgt spid="73"/>
                                        </p:tgtEl>
                                        <p:attrNameLst>
                                          <p:attrName>ppt_w</p:attrName>
                                        </p:attrNameLst>
                                      </p:cBhvr>
                                      <p:tavLst>
                                        <p:tav tm="0">
                                          <p:val>
                                            <p:fltVal val="0"/>
                                          </p:val>
                                        </p:tav>
                                        <p:tav tm="100000">
                                          <p:val>
                                            <p:strVal val="#ppt_w"/>
                                          </p:val>
                                        </p:tav>
                                      </p:tavLst>
                                    </p:anim>
                                    <p:anim calcmode="lin" valueType="num">
                                      <p:cBhvr>
                                        <p:cTn id="18" dur="500" fill="hold"/>
                                        <p:tgtEl>
                                          <p:spTgt spid="73"/>
                                        </p:tgtEl>
                                        <p:attrNameLst>
                                          <p:attrName>ppt_h</p:attrName>
                                        </p:attrNameLst>
                                      </p:cBhvr>
                                      <p:tavLst>
                                        <p:tav tm="0">
                                          <p:val>
                                            <p:fltVal val="0"/>
                                          </p:val>
                                        </p:tav>
                                        <p:tav tm="100000">
                                          <p:val>
                                            <p:strVal val="#ppt_h"/>
                                          </p:val>
                                        </p:tav>
                                      </p:tavLst>
                                    </p:anim>
                                    <p:animEffect transition="in" filter="fade">
                                      <p:cBhvr>
                                        <p:cTn id="19" dur="500"/>
                                        <p:tgtEl>
                                          <p:spTgt spid="73"/>
                                        </p:tgtEl>
                                      </p:cBhvr>
                                    </p:animEffect>
                                  </p:childTnLst>
                                </p:cTn>
                              </p:par>
                            </p:childTnLst>
                          </p:cTn>
                        </p:par>
                        <p:par>
                          <p:cTn id="20" fill="hold">
                            <p:stCondLst>
                              <p:cond delay="2000"/>
                            </p:stCondLst>
                            <p:childTnLst>
                              <p:par>
                                <p:cTn id="21" presetID="16" presetClass="entr" presetSubtype="21"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barn(inVertical)">
                                      <p:cBhvr>
                                        <p:cTn id="23" dur="500"/>
                                        <p:tgtEl>
                                          <p:spTgt spid="39"/>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barn(inVertical)">
                                      <p:cBhvr>
                                        <p:cTn id="26" dur="500"/>
                                        <p:tgtEl>
                                          <p:spTgt spid="40"/>
                                        </p:tgtEl>
                                      </p:cBhvr>
                                    </p:animEffect>
                                  </p:childTnLst>
                                </p:cTn>
                              </p:par>
                            </p:childTnLst>
                          </p:cTn>
                        </p:par>
                        <p:par>
                          <p:cTn id="27" fill="hold">
                            <p:stCondLst>
                              <p:cond delay="2500"/>
                            </p:stCondLst>
                            <p:childTnLst>
                              <p:par>
                                <p:cTn id="28" presetID="2" presetClass="entr" presetSubtype="2" fill="hold" nodeType="after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additive="base">
                                        <p:cTn id="30" dur="500" fill="hold"/>
                                        <p:tgtEl>
                                          <p:spTgt spid="41"/>
                                        </p:tgtEl>
                                        <p:attrNameLst>
                                          <p:attrName>ppt_x</p:attrName>
                                        </p:attrNameLst>
                                      </p:cBhvr>
                                      <p:tavLst>
                                        <p:tav tm="0">
                                          <p:val>
                                            <p:strVal val="1+#ppt_w/2"/>
                                          </p:val>
                                        </p:tav>
                                        <p:tav tm="100000">
                                          <p:val>
                                            <p:strVal val="#ppt_x"/>
                                          </p:val>
                                        </p:tav>
                                      </p:tavLst>
                                    </p:anim>
                                    <p:anim calcmode="lin" valueType="num">
                                      <p:cBhvr additive="base">
                                        <p:cTn id="31" dur="500" fill="hold"/>
                                        <p:tgtEl>
                                          <p:spTgt spid="41"/>
                                        </p:tgtEl>
                                        <p:attrNameLst>
                                          <p:attrName>ppt_y</p:attrName>
                                        </p:attrNameLst>
                                      </p:cBhvr>
                                      <p:tavLst>
                                        <p:tav tm="0">
                                          <p:val>
                                            <p:strVal val="#ppt_y"/>
                                          </p:val>
                                        </p:tav>
                                        <p:tav tm="100000">
                                          <p:val>
                                            <p:strVal val="#ppt_y"/>
                                          </p:val>
                                        </p:tav>
                                      </p:tavLst>
                                    </p:anim>
                                  </p:childTnLst>
                                </p:cTn>
                              </p:par>
                            </p:childTnLst>
                          </p:cTn>
                        </p:par>
                        <p:par>
                          <p:cTn id="32" fill="hold">
                            <p:stCondLst>
                              <p:cond delay="3000"/>
                            </p:stCondLst>
                            <p:childTnLst>
                              <p:par>
                                <p:cTn id="33" presetID="2" presetClass="entr" presetSubtype="2" fill="hold" nodeType="after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additive="base">
                                        <p:cTn id="35" dur="500" fill="hold"/>
                                        <p:tgtEl>
                                          <p:spTgt spid="49"/>
                                        </p:tgtEl>
                                        <p:attrNameLst>
                                          <p:attrName>ppt_x</p:attrName>
                                        </p:attrNameLst>
                                      </p:cBhvr>
                                      <p:tavLst>
                                        <p:tav tm="0">
                                          <p:val>
                                            <p:strVal val="1+#ppt_w/2"/>
                                          </p:val>
                                        </p:tav>
                                        <p:tav tm="100000">
                                          <p:val>
                                            <p:strVal val="#ppt_x"/>
                                          </p:val>
                                        </p:tav>
                                      </p:tavLst>
                                    </p:anim>
                                    <p:anim calcmode="lin" valueType="num">
                                      <p:cBhvr additive="base">
                                        <p:cTn id="36" dur="500" fill="hold"/>
                                        <p:tgtEl>
                                          <p:spTgt spid="49"/>
                                        </p:tgtEl>
                                        <p:attrNameLst>
                                          <p:attrName>ppt_y</p:attrName>
                                        </p:attrNameLst>
                                      </p:cBhvr>
                                      <p:tavLst>
                                        <p:tav tm="0">
                                          <p:val>
                                            <p:strVal val="#ppt_y"/>
                                          </p:val>
                                        </p:tav>
                                        <p:tav tm="100000">
                                          <p:val>
                                            <p:strVal val="#ppt_y"/>
                                          </p:val>
                                        </p:tav>
                                      </p:tavLst>
                                    </p:anim>
                                  </p:childTnLst>
                                </p:cTn>
                              </p:par>
                            </p:childTnLst>
                          </p:cTn>
                        </p:par>
                        <p:par>
                          <p:cTn id="37" fill="hold">
                            <p:stCondLst>
                              <p:cond delay="3500"/>
                            </p:stCondLst>
                            <p:childTnLst>
                              <p:par>
                                <p:cTn id="38" presetID="2" presetClass="entr" presetSubtype="2" fill="hold" nodeType="afterEffect">
                                  <p:stCondLst>
                                    <p:cond delay="0"/>
                                  </p:stCondLst>
                                  <p:childTnLst>
                                    <p:set>
                                      <p:cBhvr>
                                        <p:cTn id="39" dur="1" fill="hold">
                                          <p:stCondLst>
                                            <p:cond delay="0"/>
                                          </p:stCondLst>
                                        </p:cTn>
                                        <p:tgtEl>
                                          <p:spTgt spid="57"/>
                                        </p:tgtEl>
                                        <p:attrNameLst>
                                          <p:attrName>style.visibility</p:attrName>
                                        </p:attrNameLst>
                                      </p:cBhvr>
                                      <p:to>
                                        <p:strVal val="visible"/>
                                      </p:to>
                                    </p:set>
                                    <p:anim calcmode="lin" valueType="num">
                                      <p:cBhvr additive="base">
                                        <p:cTn id="40" dur="500" fill="hold"/>
                                        <p:tgtEl>
                                          <p:spTgt spid="57"/>
                                        </p:tgtEl>
                                        <p:attrNameLst>
                                          <p:attrName>ppt_x</p:attrName>
                                        </p:attrNameLst>
                                      </p:cBhvr>
                                      <p:tavLst>
                                        <p:tav tm="0">
                                          <p:val>
                                            <p:strVal val="1+#ppt_w/2"/>
                                          </p:val>
                                        </p:tav>
                                        <p:tav tm="100000">
                                          <p:val>
                                            <p:strVal val="#ppt_x"/>
                                          </p:val>
                                        </p:tav>
                                      </p:tavLst>
                                    </p:anim>
                                    <p:anim calcmode="lin" valueType="num">
                                      <p:cBhvr additive="base">
                                        <p:cTn id="41" dur="500" fill="hold"/>
                                        <p:tgtEl>
                                          <p:spTgt spid="57"/>
                                        </p:tgtEl>
                                        <p:attrNameLst>
                                          <p:attrName>ppt_y</p:attrName>
                                        </p:attrNameLst>
                                      </p:cBhvr>
                                      <p:tavLst>
                                        <p:tav tm="0">
                                          <p:val>
                                            <p:strVal val="#ppt_y"/>
                                          </p:val>
                                        </p:tav>
                                        <p:tav tm="100000">
                                          <p:val>
                                            <p:strVal val="#ppt_y"/>
                                          </p:val>
                                        </p:tav>
                                      </p:tavLst>
                                    </p:anim>
                                  </p:childTnLst>
                                </p:cTn>
                              </p:par>
                            </p:childTnLst>
                          </p:cTn>
                        </p:par>
                        <p:par>
                          <p:cTn id="42" fill="hold">
                            <p:stCondLst>
                              <p:cond delay="4000"/>
                            </p:stCondLst>
                            <p:childTnLst>
                              <p:par>
                                <p:cTn id="43" presetID="2" presetClass="entr" presetSubtype="2" fill="hold" nodeType="afterEffect">
                                  <p:stCondLst>
                                    <p:cond delay="0"/>
                                  </p:stCondLst>
                                  <p:childTnLst>
                                    <p:set>
                                      <p:cBhvr>
                                        <p:cTn id="44" dur="1" fill="hold">
                                          <p:stCondLst>
                                            <p:cond delay="0"/>
                                          </p:stCondLst>
                                        </p:cTn>
                                        <p:tgtEl>
                                          <p:spTgt spid="65"/>
                                        </p:tgtEl>
                                        <p:attrNameLst>
                                          <p:attrName>style.visibility</p:attrName>
                                        </p:attrNameLst>
                                      </p:cBhvr>
                                      <p:to>
                                        <p:strVal val="visible"/>
                                      </p:to>
                                    </p:set>
                                    <p:anim calcmode="lin" valueType="num">
                                      <p:cBhvr additive="base">
                                        <p:cTn id="45" dur="500" fill="hold"/>
                                        <p:tgtEl>
                                          <p:spTgt spid="65"/>
                                        </p:tgtEl>
                                        <p:attrNameLst>
                                          <p:attrName>ppt_x</p:attrName>
                                        </p:attrNameLst>
                                      </p:cBhvr>
                                      <p:tavLst>
                                        <p:tav tm="0">
                                          <p:val>
                                            <p:strVal val="1+#ppt_w/2"/>
                                          </p:val>
                                        </p:tav>
                                        <p:tav tm="100000">
                                          <p:val>
                                            <p:strVal val="#ppt_x"/>
                                          </p:val>
                                        </p:tav>
                                      </p:tavLst>
                                    </p:anim>
                                    <p:anim calcmode="lin" valueType="num">
                                      <p:cBhvr additive="base">
                                        <p:cTn id="46" dur="500" fill="hold"/>
                                        <p:tgtEl>
                                          <p:spTgt spid="65"/>
                                        </p:tgtEl>
                                        <p:attrNameLst>
                                          <p:attrName>ppt_y</p:attrName>
                                        </p:attrNameLst>
                                      </p:cBhvr>
                                      <p:tavLst>
                                        <p:tav tm="0">
                                          <p:val>
                                            <p:strVal val="#ppt_y"/>
                                          </p:val>
                                        </p:tav>
                                        <p:tav tm="100000">
                                          <p:val>
                                            <p:strVal val="#ppt_y"/>
                                          </p:val>
                                        </p:tav>
                                      </p:tavLst>
                                    </p:anim>
                                  </p:childTnLst>
                                </p:cTn>
                              </p:par>
                            </p:childTnLst>
                          </p:cTn>
                        </p:par>
                        <p:par>
                          <p:cTn id="47" fill="hold">
                            <p:stCondLst>
                              <p:cond delay="4500"/>
                            </p:stCondLst>
                            <p:childTnLst>
                              <p:par>
                                <p:cTn id="48" presetID="53" presetClass="entr" presetSubtype="16" fill="hold" nodeType="afterEffect">
                                  <p:stCondLst>
                                    <p:cond delay="0"/>
                                  </p:stCondLst>
                                  <p:childTnLst>
                                    <p:set>
                                      <p:cBhvr>
                                        <p:cTn id="49" dur="1" fill="hold">
                                          <p:stCondLst>
                                            <p:cond delay="0"/>
                                          </p:stCondLst>
                                        </p:cTn>
                                        <p:tgtEl>
                                          <p:spTgt spid="74"/>
                                        </p:tgtEl>
                                        <p:attrNameLst>
                                          <p:attrName>style.visibility</p:attrName>
                                        </p:attrNameLst>
                                      </p:cBhvr>
                                      <p:to>
                                        <p:strVal val="visible"/>
                                      </p:to>
                                    </p:set>
                                    <p:anim calcmode="lin" valueType="num">
                                      <p:cBhvr>
                                        <p:cTn id="50" dur="1000" fill="hold"/>
                                        <p:tgtEl>
                                          <p:spTgt spid="74"/>
                                        </p:tgtEl>
                                        <p:attrNameLst>
                                          <p:attrName>ppt_w</p:attrName>
                                        </p:attrNameLst>
                                      </p:cBhvr>
                                      <p:tavLst>
                                        <p:tav tm="0">
                                          <p:val>
                                            <p:fltVal val="0"/>
                                          </p:val>
                                        </p:tav>
                                        <p:tav tm="100000">
                                          <p:val>
                                            <p:strVal val="#ppt_w"/>
                                          </p:val>
                                        </p:tav>
                                      </p:tavLst>
                                    </p:anim>
                                    <p:anim calcmode="lin" valueType="num">
                                      <p:cBhvr>
                                        <p:cTn id="51" dur="1000" fill="hold"/>
                                        <p:tgtEl>
                                          <p:spTgt spid="74"/>
                                        </p:tgtEl>
                                        <p:attrNameLst>
                                          <p:attrName>ppt_h</p:attrName>
                                        </p:attrNameLst>
                                      </p:cBhvr>
                                      <p:tavLst>
                                        <p:tav tm="0">
                                          <p:val>
                                            <p:fltVal val="0"/>
                                          </p:val>
                                        </p:tav>
                                        <p:tav tm="100000">
                                          <p:val>
                                            <p:strVal val="#ppt_h"/>
                                          </p:val>
                                        </p:tav>
                                      </p:tavLst>
                                    </p:anim>
                                    <p:animEffect transition="in" filter="fade">
                                      <p:cBhvr>
                                        <p:cTn id="52" dur="1000"/>
                                        <p:tgtEl>
                                          <p:spTgt spid="74"/>
                                        </p:tgtEl>
                                      </p:cBhvr>
                                    </p:animEffect>
                                  </p:childTnLst>
                                </p:cTn>
                              </p:par>
                              <p:par>
                                <p:cTn id="53" presetID="35" presetClass="path" presetSubtype="0" accel="50000" decel="50000" fill="hold" nodeType="withEffect">
                                  <p:stCondLst>
                                    <p:cond delay="0"/>
                                  </p:stCondLst>
                                  <p:childTnLst>
                                    <p:animMotion origin="layout" path="M 3.54167E-6 -2.59259E-6 L 0.31575 -2.59259E-6 " pathEditMode="relative" rAng="0" ptsTypes="AA">
                                      <p:cBhvr>
                                        <p:cTn id="54" dur="2000" spd="-100000" fill="hold"/>
                                        <p:tgtEl>
                                          <p:spTgt spid="74"/>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2"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3"/>
          <a:stretch>
            <a:fillRect/>
          </a:stretch>
        </p:blipFill>
        <p:spPr>
          <a:xfrm rot="20902340" flipH="1">
            <a:off x="686735" y="622930"/>
            <a:ext cx="3143832" cy="1309931"/>
          </a:xfrm>
          <a:prstGeom prst="rect">
            <a:avLst/>
          </a:prstGeom>
        </p:spPr>
      </p:pic>
      <p:sp>
        <p:nvSpPr>
          <p:cNvPr id="75" name="文本框 74"/>
          <p:cNvSpPr txBox="1"/>
          <p:nvPr/>
        </p:nvSpPr>
        <p:spPr>
          <a:xfrm>
            <a:off x="4460240" y="2467132"/>
            <a:ext cx="3262432" cy="1015663"/>
          </a:xfrm>
          <a:prstGeom prst="rect">
            <a:avLst/>
          </a:prstGeom>
          <a:noFill/>
        </p:spPr>
        <p:txBody>
          <a:bodyPr wrap="none" rtlCol="0">
            <a:spAutoFit/>
          </a:bodyPr>
          <a:lstStyle/>
          <a:p>
            <a:r>
              <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rPr>
              <a:t>第一部分</a:t>
            </a:r>
            <a:endPar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7" name="Freeform 29"/>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8" name="文本框 77"/>
          <p:cNvSpPr txBox="1"/>
          <p:nvPr/>
        </p:nvSpPr>
        <p:spPr>
          <a:xfrm>
            <a:off x="1800643" y="3393756"/>
            <a:ext cx="8599805" cy="1014730"/>
          </a:xfrm>
          <a:prstGeom prst="rect">
            <a:avLst/>
          </a:prstGeom>
          <a:noFill/>
        </p:spPr>
        <p:txBody>
          <a:bodyPr wrap="none" rtlCol="0">
            <a:spAutoFit/>
          </a:bodyPr>
          <a:lstStyle/>
          <a:p>
            <a:pPr algn="ctr"/>
            <a:r>
              <a:rPr lang="zh-CN" altLang="en-US" sz="6000" b="1" dirty="0">
                <a:solidFill>
                  <a:srgbClr val="C00000"/>
                </a:solidFill>
                <a:latin typeface="字体视界-NEW魏碑体" panose="02010601030101010101" pitchFamily="2" charset="-122"/>
                <a:ea typeface="字体视界-NEW魏碑体" panose="02010601030101010101" pitchFamily="2" charset="-122"/>
                <a:sym typeface="+mn-ea"/>
              </a:rPr>
              <a:t>毛泽东发表《论持久战》</a:t>
            </a:r>
            <a:endParaRPr lang="zh-CN" altLang="en-US" sz="6000" b="1" dirty="0">
              <a:solidFill>
                <a:srgbClr val="C00000"/>
              </a:solidFill>
              <a:latin typeface="字体视界-NEW魏碑体" panose="02010601030101010101" pitchFamily="2" charset="-122"/>
              <a:ea typeface="字体视界-NEW魏碑体" panose="02010601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childTnLst>
                          </p:cTn>
                        </p:par>
                        <p:par>
                          <p:cTn id="31" fill="hold">
                            <p:stCondLst>
                              <p:cond delay="2500"/>
                            </p:stCondLst>
                            <p:childTnLst>
                              <p:par>
                                <p:cTn id="32" presetID="23" presetClass="entr" presetSubtype="36" fill="hold" grpId="0" nodeType="after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1000" fill="hold"/>
                                        <p:tgtEl>
                                          <p:spTgt spid="77"/>
                                        </p:tgtEl>
                                        <p:attrNameLst>
                                          <p:attrName>ppt_w</p:attrName>
                                        </p:attrNameLst>
                                      </p:cBhvr>
                                      <p:tavLst>
                                        <p:tav tm="0">
                                          <p:val>
                                            <p:strVal val="(6*min(max(#ppt_w*#ppt_h,.3),1)-7.4)/-.7*#ppt_w"/>
                                          </p:val>
                                        </p:tav>
                                        <p:tav tm="100000">
                                          <p:val>
                                            <p:strVal val="#ppt_w"/>
                                          </p:val>
                                        </p:tav>
                                      </p:tavLst>
                                    </p:anim>
                                    <p:anim calcmode="lin" valueType="num">
                                      <p:cBhvr>
                                        <p:cTn id="35" dur="1000" fill="hold"/>
                                        <p:tgtEl>
                                          <p:spTgt spid="77"/>
                                        </p:tgtEl>
                                        <p:attrNameLst>
                                          <p:attrName>ppt_h</p:attrName>
                                        </p:attrNameLst>
                                      </p:cBhvr>
                                      <p:tavLst>
                                        <p:tav tm="0">
                                          <p:val>
                                            <p:strVal val="(6*min(max(#ppt_w*#ppt_h,.3),1)-7.4)/-.7*#ppt_h"/>
                                          </p:val>
                                        </p:tav>
                                        <p:tav tm="100000">
                                          <p:val>
                                            <p:strVal val="#ppt_h"/>
                                          </p:val>
                                        </p:tav>
                                      </p:tavLst>
                                    </p:anim>
                                    <p:anim calcmode="lin" valueType="num">
                                      <p:cBhvr>
                                        <p:cTn id="36" dur="1000" fill="hold"/>
                                        <p:tgtEl>
                                          <p:spTgt spid="77"/>
                                        </p:tgtEl>
                                        <p:attrNameLst>
                                          <p:attrName>ppt_x</p:attrName>
                                        </p:attrNameLst>
                                      </p:cBhvr>
                                      <p:tavLst>
                                        <p:tav tm="0">
                                          <p:val>
                                            <p:fltVal val="0.5"/>
                                          </p:val>
                                        </p:tav>
                                        <p:tav tm="100000">
                                          <p:val>
                                            <p:strVal val="#ppt_x"/>
                                          </p:val>
                                        </p:tav>
                                      </p:tavLst>
                                    </p:anim>
                                    <p:anim calcmode="lin" valueType="num">
                                      <p:cBhvr>
                                        <p:cTn id="37" dur="1000" fill="hold"/>
                                        <p:tgtEl>
                                          <p:spTgt spid="77"/>
                                        </p:tgtEl>
                                        <p:attrNameLst>
                                          <p:attrName>ppt_y</p:attrName>
                                        </p:attrNameLst>
                                      </p:cBhvr>
                                      <p:tavLst>
                                        <p:tav tm="0">
                                          <p:val>
                                            <p:strVal val="1+(6*min(max(#ppt_w*#ppt_h,.3),1)-7.4)/-.7*#ppt_h/2"/>
                                          </p:val>
                                        </p:tav>
                                        <p:tav tm="100000">
                                          <p:val>
                                            <p:strVal val="#ppt_y"/>
                                          </p:val>
                                        </p:tav>
                                      </p:tavLst>
                                    </p:anim>
                                  </p:childTnLst>
                                </p:cTn>
                              </p:par>
                              <p:par>
                                <p:cTn id="38" presetID="53" presetClass="entr" presetSubtype="16" fill="hold" grpId="0" nodeType="withEffect">
                                  <p:stCondLst>
                                    <p:cond delay="400"/>
                                  </p:stCondLst>
                                  <p:childTnLst>
                                    <p:set>
                                      <p:cBhvr>
                                        <p:cTn id="39" dur="1" fill="hold">
                                          <p:stCondLst>
                                            <p:cond delay="0"/>
                                          </p:stCondLst>
                                        </p:cTn>
                                        <p:tgtEl>
                                          <p:spTgt spid="78"/>
                                        </p:tgtEl>
                                        <p:attrNameLst>
                                          <p:attrName>style.visibility</p:attrName>
                                        </p:attrNameLst>
                                      </p:cBhvr>
                                      <p:to>
                                        <p:strVal val="visible"/>
                                      </p:to>
                                    </p:set>
                                    <p:anim calcmode="lin" valueType="num">
                                      <p:cBhvr>
                                        <p:cTn id="40" dur="250" fill="hold"/>
                                        <p:tgtEl>
                                          <p:spTgt spid="78"/>
                                        </p:tgtEl>
                                        <p:attrNameLst>
                                          <p:attrName>ppt_w</p:attrName>
                                        </p:attrNameLst>
                                      </p:cBhvr>
                                      <p:tavLst>
                                        <p:tav tm="0">
                                          <p:val>
                                            <p:fltVal val="0"/>
                                          </p:val>
                                        </p:tav>
                                        <p:tav tm="100000">
                                          <p:val>
                                            <p:strVal val="#ppt_w"/>
                                          </p:val>
                                        </p:tav>
                                      </p:tavLst>
                                    </p:anim>
                                    <p:anim calcmode="lin" valueType="num">
                                      <p:cBhvr>
                                        <p:cTn id="41" dur="250" fill="hold"/>
                                        <p:tgtEl>
                                          <p:spTgt spid="78"/>
                                        </p:tgtEl>
                                        <p:attrNameLst>
                                          <p:attrName>ppt_h</p:attrName>
                                        </p:attrNameLst>
                                      </p:cBhvr>
                                      <p:tavLst>
                                        <p:tav tm="0">
                                          <p:val>
                                            <p:fltVal val="0"/>
                                          </p:val>
                                        </p:tav>
                                        <p:tav tm="100000">
                                          <p:val>
                                            <p:strVal val="#ppt_h"/>
                                          </p:val>
                                        </p:tav>
                                      </p:tavLst>
                                    </p:anim>
                                    <p:animEffect transition="in" filter="fade">
                                      <p:cBhvr>
                                        <p:cTn id="42" dur="250"/>
                                        <p:tgtEl>
                                          <p:spTgt spid="78"/>
                                        </p:tgtEl>
                                      </p:cBhvr>
                                    </p:animEffect>
                                  </p:childTnLst>
                                </p:cTn>
                              </p:par>
                              <p:par>
                                <p:cTn id="43" presetID="6" presetClass="emph" presetSubtype="0" decel="100000" fill="hold" grpId="1" nodeType="withEffect">
                                  <p:stCondLst>
                                    <p:cond delay="600"/>
                                  </p:stCondLst>
                                  <p:childTnLst>
                                    <p:animScale>
                                      <p:cBhvr>
                                        <p:cTn id="44" dur="250" fill="hold"/>
                                        <p:tgtEl>
                                          <p:spTgt spid="78"/>
                                        </p:tgtEl>
                                      </p:cBhvr>
                                      <p:by x="120000" y="120000"/>
                                    </p:animScale>
                                  </p:childTnLst>
                                </p:cTn>
                              </p:par>
                              <p:par>
                                <p:cTn id="45" presetID="6" presetClass="emph" presetSubtype="0" decel="100000" fill="hold" grpId="2" nodeType="withEffect">
                                  <p:stCondLst>
                                    <p:cond delay="800"/>
                                  </p:stCondLst>
                                  <p:childTnLst>
                                    <p:animScale>
                                      <p:cBhvr>
                                        <p:cTn id="46"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7" grpId="0" animBg="1"/>
      <p:bldP spid="78" grpId="0"/>
      <p:bldP spid="78" grpId="1"/>
      <p:bldP spid="78" grpId="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037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毛泽东发表《论持久战》</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28" name="Freeform 29"/>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29" name="矩形 28"/>
          <p:cNvSpPr/>
          <p:nvPr/>
        </p:nvSpPr>
        <p:spPr>
          <a:xfrm>
            <a:off x="6257925" y="1697990"/>
            <a:ext cx="5035550" cy="4401185"/>
          </a:xfrm>
          <a:prstGeom prst="rect">
            <a:avLst/>
          </a:prstGeom>
          <a:ln>
            <a:noFill/>
          </a:ln>
        </p:spPr>
        <p:txBody>
          <a:bodyPr wrap="square">
            <a:noAutofit/>
          </a:bodyPr>
          <a:lstStyle/>
          <a:p>
            <a:pPr>
              <a:lnSpc>
                <a:spcPct val="150000"/>
              </a:lnSpc>
            </a:pPr>
            <a:r>
              <a:rPr dirty="0">
                <a:latin typeface="微软雅黑" panose="020B0503020204020204" pitchFamily="34" charset="-122"/>
                <a:ea typeface="微软雅黑" panose="020B0503020204020204" pitchFamily="34" charset="-122"/>
              </a:rPr>
              <a:t>论持久战写作于1938年，当时日军占领了中国大部分地区，中国抗战处于非常艰苦的境地。在这种情况下，毛泽东认为只有采取持久战的策略才能够最终战胜日军。他在论文中提出了持久战的基本战略思想，即在弱势的情况下通过游击战和阵地战来打击强敌，最终取得胜利。他认为，在敌强我弱的情况下，采取速决战是不利的，而应该通过持久战来削弱敌人的力量，使敌人的胜利越来越困难，直到最终能够战胜敌人。</a:t>
            </a:r>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1060450" y="1335405"/>
            <a:ext cx="4159885" cy="49707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1500"/>
                            </p:stCondLst>
                            <p:childTnLst>
                              <p:par>
                                <p:cTn id="38" presetID="53" presetClass="entr" presetSubtype="16" fill="hold" grpId="0" nodeType="afterEffect">
                                  <p:stCondLst>
                                    <p:cond delay="0"/>
                                  </p:stCondLst>
                                  <p:iterate type="lt">
                                    <p:tmPct val="10000"/>
                                  </p:iterate>
                                  <p:childTnLst>
                                    <p:set>
                                      <p:cBhvr>
                                        <p:cTn id="39" dur="1" fill="hold">
                                          <p:stCondLst>
                                            <p:cond delay="0"/>
                                          </p:stCondLst>
                                        </p:cTn>
                                        <p:tgtEl>
                                          <p:spTgt spid="29"/>
                                        </p:tgtEl>
                                        <p:attrNameLst>
                                          <p:attrName>style.visibility</p:attrName>
                                        </p:attrNameLst>
                                      </p:cBhvr>
                                      <p:to>
                                        <p:strVal val="visible"/>
                                      </p:to>
                                    </p:set>
                                    <p:anim calcmode="lin" valueType="num">
                                      <p:cBhvr>
                                        <p:cTn id="40" dur="250" fill="hold"/>
                                        <p:tgtEl>
                                          <p:spTgt spid="29"/>
                                        </p:tgtEl>
                                        <p:attrNameLst>
                                          <p:attrName>ppt_w</p:attrName>
                                        </p:attrNameLst>
                                      </p:cBhvr>
                                      <p:tavLst>
                                        <p:tav tm="0">
                                          <p:val>
                                            <p:fltVal val="0"/>
                                          </p:val>
                                        </p:tav>
                                        <p:tav tm="100000">
                                          <p:val>
                                            <p:strVal val="#ppt_w"/>
                                          </p:val>
                                        </p:tav>
                                      </p:tavLst>
                                    </p:anim>
                                    <p:anim calcmode="lin" valueType="num">
                                      <p:cBhvr>
                                        <p:cTn id="41" dur="250" fill="hold"/>
                                        <p:tgtEl>
                                          <p:spTgt spid="29"/>
                                        </p:tgtEl>
                                        <p:attrNameLst>
                                          <p:attrName>ppt_h</p:attrName>
                                        </p:attrNameLst>
                                      </p:cBhvr>
                                      <p:tavLst>
                                        <p:tav tm="0">
                                          <p:val>
                                            <p:fltVal val="0"/>
                                          </p:val>
                                        </p:tav>
                                        <p:tav tm="100000">
                                          <p:val>
                                            <p:strVal val="#ppt_h"/>
                                          </p:val>
                                        </p:tav>
                                      </p:tavLst>
                                    </p:anim>
                                    <p:animEffect transition="in" filter="fade">
                                      <p:cBhvr>
                                        <p:cTn id="42" dur="2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037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第一部分：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毛泽东发表《论持久战》</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28" name="Freeform 29"/>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pic>
        <p:nvPicPr>
          <p:cNvPr id="2" name="图片 1"/>
          <p:cNvPicPr>
            <a:picLocks noChangeAspect="1"/>
          </p:cNvPicPr>
          <p:nvPr/>
        </p:nvPicPr>
        <p:blipFill>
          <a:blip r:embed="rId2"/>
          <a:stretch>
            <a:fillRect/>
          </a:stretch>
        </p:blipFill>
        <p:spPr>
          <a:xfrm>
            <a:off x="6151880" y="2705735"/>
            <a:ext cx="5729605" cy="3788410"/>
          </a:xfrm>
          <a:prstGeom prst="rect">
            <a:avLst/>
          </a:prstGeom>
        </p:spPr>
      </p:pic>
      <p:sp>
        <p:nvSpPr>
          <p:cNvPr id="3" name="文本框 2"/>
          <p:cNvSpPr txBox="1"/>
          <p:nvPr/>
        </p:nvSpPr>
        <p:spPr>
          <a:xfrm>
            <a:off x="492125" y="1393825"/>
            <a:ext cx="5234305" cy="4279265"/>
          </a:xfrm>
          <a:prstGeom prst="rect">
            <a:avLst/>
          </a:prstGeom>
          <a:noFill/>
        </p:spPr>
        <p:txBody>
          <a:bodyPr wrap="square" rtlCol="0">
            <a:noAutofit/>
          </a:bodyPr>
          <a:p>
            <a:r>
              <a:rPr lang="zh-CN" altLang="en-US"/>
              <a:t>这篇论文对中国抗战的意义非常重大。它提出了一种全新的战略思想，为中国抗战指明了方向。毛泽东提出的持久战战略思想得到了中共中央的认可，并成为中国抗战的战略指导思想。持久战的实施也在很大程度上推动了中国抗战的胜利。通过采取游击战和阵地战，中国军队在弱小的情况下还能够有效地打击日军，最终取得了胜利。此外，毛泽东的持久战论对世界军事理论的贡献也是不可忽视的。毛泽东在论文中提出了一些非常重要的理论观点，例如</a:t>
            </a:r>
            <a:r>
              <a:rPr lang="zh-CN" altLang="en-US">
                <a:solidFill>
                  <a:srgbClr val="FF0000"/>
                </a:solidFill>
              </a:rPr>
              <a:t>弱者如何战胜强者</a:t>
            </a:r>
            <a:r>
              <a:rPr lang="zh-CN" altLang="en-US"/>
              <a:t>、</a:t>
            </a:r>
            <a:r>
              <a:rPr lang="zh-CN" altLang="en-US">
                <a:solidFill>
                  <a:srgbClr val="FF0000"/>
                </a:solidFill>
              </a:rPr>
              <a:t>游击战的作用</a:t>
            </a:r>
            <a:r>
              <a:rPr lang="zh-CN" altLang="en-US"/>
              <a:t>、</a:t>
            </a:r>
            <a:r>
              <a:rPr lang="zh-CN" altLang="en-US">
                <a:solidFill>
                  <a:srgbClr val="FF0000"/>
                </a:solidFill>
              </a:rPr>
              <a:t>阵地战的原则</a:t>
            </a:r>
            <a:r>
              <a:rPr lang="zh-CN" altLang="en-US"/>
              <a:t>等等。这些观点不仅对中国抗战具有重要意义，而且对世界军事理论的发展也有一定的影响。持久战的思想在20世纪40年代和50年代得到了广泛的应用，成为许多</a:t>
            </a:r>
            <a:r>
              <a:rPr lang="zh-CN" altLang="en-US">
                <a:solidFill>
                  <a:srgbClr val="FF0000"/>
                </a:solidFill>
              </a:rPr>
              <a:t>解放战争的胜利的重要因素</a:t>
            </a:r>
            <a:r>
              <a:rPr lang="zh-CN" altLang="en-US"/>
              <a:t>。</a:t>
            </a:r>
            <a:endParaRPr lang="zh-CN" altLang="en-US"/>
          </a:p>
        </p:txBody>
      </p:sp>
      <p:pic>
        <p:nvPicPr>
          <p:cNvPr id="40" name="图片 39"/>
          <p:cNvPicPr>
            <a:picLocks noChangeAspect="1"/>
          </p:cNvPicPr>
          <p:nvPr/>
        </p:nvPicPr>
        <p:blipFill>
          <a:blip r:embed="rId3"/>
          <a:stretch>
            <a:fillRect/>
          </a:stretch>
        </p:blipFill>
        <p:spPr>
          <a:xfrm rot="20902340" flipH="1">
            <a:off x="6150599" y="1477911"/>
            <a:ext cx="2100539" cy="8752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1500"/>
                            </p:stCondLst>
                            <p:childTnLst>
                              <p:par>
                                <p:cTn id="38" presetID="53" presetClass="entr" presetSubtype="16" fill="hold" nodeType="afterEffect">
                                  <p:stCondLst>
                                    <p:cond delay="0"/>
                                  </p:stCondLst>
                                  <p:childTnLst>
                                    <p:set>
                                      <p:cBhvr>
                                        <p:cTn id="39" dur="1" fill="hold">
                                          <p:stCondLst>
                                            <p:cond delay="0"/>
                                          </p:stCondLst>
                                        </p:cTn>
                                        <p:tgtEl>
                                          <p:spTgt spid="40"/>
                                        </p:tgtEl>
                                        <p:attrNameLst>
                                          <p:attrName>style.visibility</p:attrName>
                                        </p:attrNameLst>
                                      </p:cBhvr>
                                      <p:to>
                                        <p:strVal val="visible"/>
                                      </p:to>
                                    </p:set>
                                    <p:anim calcmode="lin" valueType="num">
                                      <p:cBhvr>
                                        <p:cTn id="40" dur="1000" fill="hold"/>
                                        <p:tgtEl>
                                          <p:spTgt spid="40"/>
                                        </p:tgtEl>
                                        <p:attrNameLst>
                                          <p:attrName>ppt_w</p:attrName>
                                        </p:attrNameLst>
                                      </p:cBhvr>
                                      <p:tavLst>
                                        <p:tav tm="0">
                                          <p:val>
                                            <p:fltVal val="0"/>
                                          </p:val>
                                        </p:tav>
                                        <p:tav tm="100000">
                                          <p:val>
                                            <p:strVal val="#ppt_w"/>
                                          </p:val>
                                        </p:tav>
                                      </p:tavLst>
                                    </p:anim>
                                    <p:anim calcmode="lin" valueType="num">
                                      <p:cBhvr>
                                        <p:cTn id="41" dur="1000" fill="hold"/>
                                        <p:tgtEl>
                                          <p:spTgt spid="40"/>
                                        </p:tgtEl>
                                        <p:attrNameLst>
                                          <p:attrName>ppt_h</p:attrName>
                                        </p:attrNameLst>
                                      </p:cBhvr>
                                      <p:tavLst>
                                        <p:tav tm="0">
                                          <p:val>
                                            <p:fltVal val="0"/>
                                          </p:val>
                                        </p:tav>
                                        <p:tav tm="100000">
                                          <p:val>
                                            <p:strVal val="#ppt_h"/>
                                          </p:val>
                                        </p:tav>
                                      </p:tavLst>
                                    </p:anim>
                                    <p:animEffect transition="in" filter="fade">
                                      <p:cBhvr>
                                        <p:cTn id="42" dur="1000"/>
                                        <p:tgtEl>
                                          <p:spTgt spid="40"/>
                                        </p:tgtEl>
                                      </p:cBhvr>
                                    </p:animEffect>
                                  </p:childTnLst>
                                </p:cTn>
                              </p:par>
                              <p:par>
                                <p:cTn id="43" presetID="35" presetClass="path" presetSubtype="0" accel="50000" decel="50000" fill="hold" nodeType="withEffect">
                                  <p:stCondLst>
                                    <p:cond delay="0"/>
                                  </p:stCondLst>
                                  <p:childTnLst>
                                    <p:animMotion origin="layout" path="M -1.04167E-6 -2.96296E-6 L 0.31576 -2.96296E-6 " pathEditMode="relative" rAng="0" ptsTypes="AA">
                                      <p:cBhvr>
                                        <p:cTn id="44" dur="2000" spd="-100000" fill="hold"/>
                                        <p:tgtEl>
                                          <p:spTgt spid="40"/>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2"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3"/>
          <a:stretch>
            <a:fillRect/>
          </a:stretch>
        </p:blipFill>
        <p:spPr>
          <a:xfrm rot="20902340" flipH="1">
            <a:off x="686735" y="622930"/>
            <a:ext cx="3143832" cy="1309931"/>
          </a:xfrm>
          <a:prstGeom prst="rect">
            <a:avLst/>
          </a:prstGeom>
        </p:spPr>
      </p:pic>
      <p:sp>
        <p:nvSpPr>
          <p:cNvPr id="75" name="文本框 74"/>
          <p:cNvSpPr txBox="1"/>
          <p:nvPr/>
        </p:nvSpPr>
        <p:spPr>
          <a:xfrm>
            <a:off x="4460240" y="2467132"/>
            <a:ext cx="3217547" cy="1015663"/>
          </a:xfrm>
          <a:prstGeom prst="rect">
            <a:avLst/>
          </a:prstGeom>
          <a:noFill/>
        </p:spPr>
        <p:txBody>
          <a:bodyPr wrap="none" rtlCol="0">
            <a:spAutoFit/>
          </a:bodyPr>
          <a:lstStyle/>
          <a:p>
            <a:r>
              <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rPr>
              <a:t>第二部分</a:t>
            </a:r>
            <a:endPar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7" name="Freeform 29"/>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8" name="文本框 77"/>
          <p:cNvSpPr txBox="1"/>
          <p:nvPr/>
        </p:nvSpPr>
        <p:spPr>
          <a:xfrm>
            <a:off x="1800643" y="3393756"/>
            <a:ext cx="8599805" cy="1014730"/>
          </a:xfrm>
          <a:prstGeom prst="rect">
            <a:avLst/>
          </a:prstGeom>
          <a:noFill/>
        </p:spPr>
        <p:txBody>
          <a:bodyPr wrap="none" rtlCol="0">
            <a:spAutoFit/>
          </a:bodyPr>
          <a:lstStyle/>
          <a:p>
            <a:pPr algn="ctr"/>
            <a:r>
              <a:rPr lang="zh-CN" altLang="en-US" sz="6000" b="1" dirty="0">
                <a:solidFill>
                  <a:srgbClr val="C00000"/>
                </a:solidFill>
                <a:latin typeface="字体视界-NEW魏碑体" panose="02010601030101010101" pitchFamily="2" charset="-122"/>
                <a:ea typeface="字体视界-NEW魏碑体" panose="02010601030101010101" pitchFamily="2" charset="-122"/>
                <a:sym typeface="+mn-ea"/>
              </a:rPr>
              <a:t>《论持久战》的内容精要</a:t>
            </a:r>
            <a:endParaRPr lang="zh-CN" altLang="en-US" sz="6000" b="1" dirty="0">
              <a:solidFill>
                <a:srgbClr val="C00000"/>
              </a:solidFill>
              <a:latin typeface="字体视界-NEW魏碑体" panose="02010601030101010101" pitchFamily="2" charset="-122"/>
              <a:ea typeface="字体视界-NEW魏碑体" panose="02010601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childTnLst>
                          </p:cTn>
                        </p:par>
                        <p:par>
                          <p:cTn id="31" fill="hold">
                            <p:stCondLst>
                              <p:cond delay="2500"/>
                            </p:stCondLst>
                            <p:childTnLst>
                              <p:par>
                                <p:cTn id="32" presetID="23" presetClass="entr" presetSubtype="36" fill="hold" grpId="0" nodeType="after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1000" fill="hold"/>
                                        <p:tgtEl>
                                          <p:spTgt spid="77"/>
                                        </p:tgtEl>
                                        <p:attrNameLst>
                                          <p:attrName>ppt_w</p:attrName>
                                        </p:attrNameLst>
                                      </p:cBhvr>
                                      <p:tavLst>
                                        <p:tav tm="0">
                                          <p:val>
                                            <p:strVal val="(6*min(max(#ppt_w*#ppt_h,.3),1)-7.4)/-.7*#ppt_w"/>
                                          </p:val>
                                        </p:tav>
                                        <p:tav tm="100000">
                                          <p:val>
                                            <p:strVal val="#ppt_w"/>
                                          </p:val>
                                        </p:tav>
                                      </p:tavLst>
                                    </p:anim>
                                    <p:anim calcmode="lin" valueType="num">
                                      <p:cBhvr>
                                        <p:cTn id="35" dur="1000" fill="hold"/>
                                        <p:tgtEl>
                                          <p:spTgt spid="77"/>
                                        </p:tgtEl>
                                        <p:attrNameLst>
                                          <p:attrName>ppt_h</p:attrName>
                                        </p:attrNameLst>
                                      </p:cBhvr>
                                      <p:tavLst>
                                        <p:tav tm="0">
                                          <p:val>
                                            <p:strVal val="(6*min(max(#ppt_w*#ppt_h,.3),1)-7.4)/-.7*#ppt_h"/>
                                          </p:val>
                                        </p:tav>
                                        <p:tav tm="100000">
                                          <p:val>
                                            <p:strVal val="#ppt_h"/>
                                          </p:val>
                                        </p:tav>
                                      </p:tavLst>
                                    </p:anim>
                                    <p:anim calcmode="lin" valueType="num">
                                      <p:cBhvr>
                                        <p:cTn id="36" dur="1000" fill="hold"/>
                                        <p:tgtEl>
                                          <p:spTgt spid="77"/>
                                        </p:tgtEl>
                                        <p:attrNameLst>
                                          <p:attrName>ppt_x</p:attrName>
                                        </p:attrNameLst>
                                      </p:cBhvr>
                                      <p:tavLst>
                                        <p:tav tm="0">
                                          <p:val>
                                            <p:fltVal val="0.5"/>
                                          </p:val>
                                        </p:tav>
                                        <p:tav tm="100000">
                                          <p:val>
                                            <p:strVal val="#ppt_x"/>
                                          </p:val>
                                        </p:tav>
                                      </p:tavLst>
                                    </p:anim>
                                    <p:anim calcmode="lin" valueType="num">
                                      <p:cBhvr>
                                        <p:cTn id="37" dur="1000" fill="hold"/>
                                        <p:tgtEl>
                                          <p:spTgt spid="77"/>
                                        </p:tgtEl>
                                        <p:attrNameLst>
                                          <p:attrName>ppt_y</p:attrName>
                                        </p:attrNameLst>
                                      </p:cBhvr>
                                      <p:tavLst>
                                        <p:tav tm="0">
                                          <p:val>
                                            <p:strVal val="1+(6*min(max(#ppt_w*#ppt_h,.3),1)-7.4)/-.7*#ppt_h/2"/>
                                          </p:val>
                                        </p:tav>
                                        <p:tav tm="100000">
                                          <p:val>
                                            <p:strVal val="#ppt_y"/>
                                          </p:val>
                                        </p:tav>
                                      </p:tavLst>
                                    </p:anim>
                                  </p:childTnLst>
                                </p:cTn>
                              </p:par>
                              <p:par>
                                <p:cTn id="38" presetID="53" presetClass="entr" presetSubtype="16" fill="hold" grpId="0" nodeType="withEffect">
                                  <p:stCondLst>
                                    <p:cond delay="400"/>
                                  </p:stCondLst>
                                  <p:childTnLst>
                                    <p:set>
                                      <p:cBhvr>
                                        <p:cTn id="39" dur="1" fill="hold">
                                          <p:stCondLst>
                                            <p:cond delay="0"/>
                                          </p:stCondLst>
                                        </p:cTn>
                                        <p:tgtEl>
                                          <p:spTgt spid="78"/>
                                        </p:tgtEl>
                                        <p:attrNameLst>
                                          <p:attrName>style.visibility</p:attrName>
                                        </p:attrNameLst>
                                      </p:cBhvr>
                                      <p:to>
                                        <p:strVal val="visible"/>
                                      </p:to>
                                    </p:set>
                                    <p:anim calcmode="lin" valueType="num">
                                      <p:cBhvr>
                                        <p:cTn id="40" dur="250" fill="hold"/>
                                        <p:tgtEl>
                                          <p:spTgt spid="78"/>
                                        </p:tgtEl>
                                        <p:attrNameLst>
                                          <p:attrName>ppt_w</p:attrName>
                                        </p:attrNameLst>
                                      </p:cBhvr>
                                      <p:tavLst>
                                        <p:tav tm="0">
                                          <p:val>
                                            <p:fltVal val="0"/>
                                          </p:val>
                                        </p:tav>
                                        <p:tav tm="100000">
                                          <p:val>
                                            <p:strVal val="#ppt_w"/>
                                          </p:val>
                                        </p:tav>
                                      </p:tavLst>
                                    </p:anim>
                                    <p:anim calcmode="lin" valueType="num">
                                      <p:cBhvr>
                                        <p:cTn id="41" dur="250" fill="hold"/>
                                        <p:tgtEl>
                                          <p:spTgt spid="78"/>
                                        </p:tgtEl>
                                        <p:attrNameLst>
                                          <p:attrName>ppt_h</p:attrName>
                                        </p:attrNameLst>
                                      </p:cBhvr>
                                      <p:tavLst>
                                        <p:tav tm="0">
                                          <p:val>
                                            <p:fltVal val="0"/>
                                          </p:val>
                                        </p:tav>
                                        <p:tav tm="100000">
                                          <p:val>
                                            <p:strVal val="#ppt_h"/>
                                          </p:val>
                                        </p:tav>
                                      </p:tavLst>
                                    </p:anim>
                                    <p:animEffect transition="in" filter="fade">
                                      <p:cBhvr>
                                        <p:cTn id="42" dur="250"/>
                                        <p:tgtEl>
                                          <p:spTgt spid="78"/>
                                        </p:tgtEl>
                                      </p:cBhvr>
                                    </p:animEffect>
                                  </p:childTnLst>
                                </p:cTn>
                              </p:par>
                              <p:par>
                                <p:cTn id="43" presetID="6" presetClass="emph" presetSubtype="0" decel="100000" fill="hold" grpId="1" nodeType="withEffect">
                                  <p:stCondLst>
                                    <p:cond delay="600"/>
                                  </p:stCondLst>
                                  <p:childTnLst>
                                    <p:animScale>
                                      <p:cBhvr>
                                        <p:cTn id="44" dur="250" fill="hold"/>
                                        <p:tgtEl>
                                          <p:spTgt spid="78"/>
                                        </p:tgtEl>
                                      </p:cBhvr>
                                      <p:by x="120000" y="120000"/>
                                    </p:animScale>
                                  </p:childTnLst>
                                </p:cTn>
                              </p:par>
                              <p:par>
                                <p:cTn id="45" presetID="6" presetClass="emph" presetSubtype="0" decel="100000" fill="hold" grpId="2" nodeType="withEffect">
                                  <p:stCondLst>
                                    <p:cond delay="800"/>
                                  </p:stCondLst>
                                  <p:childTnLst>
                                    <p:animScale>
                                      <p:cBhvr>
                                        <p:cTn id="46"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7" grpId="0" animBg="1"/>
      <p:bldP spid="78" grpId="0"/>
      <p:bldP spid="78" grpId="1"/>
      <p:bldP spid="78" grpId="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0375"/>
          </a:xfrm>
          <a:prstGeom prst="rect">
            <a:avLst/>
          </a:prstGeom>
        </p:spPr>
        <p:txBody>
          <a:bodyPr wrap="square">
            <a:spAutoFit/>
          </a:bodyPr>
          <a:lstStyle/>
          <a:p>
            <a:pPr algn="ctr"/>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《论持久战》的内容精要</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28" name="Freeform 29"/>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graphicFrame>
        <p:nvGraphicFramePr>
          <p:cNvPr id="10" name="图示 9"/>
          <p:cNvGraphicFramePr/>
          <p:nvPr/>
        </p:nvGraphicFramePr>
        <p:xfrm>
          <a:off x="1150620" y="1929130"/>
          <a:ext cx="9907905" cy="4408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0375"/>
          </a:xfrm>
          <a:prstGeom prst="rect">
            <a:avLst/>
          </a:prstGeom>
        </p:spPr>
        <p:txBody>
          <a:bodyPr wrap="square">
            <a:spAutoFit/>
          </a:bodyPr>
          <a:lstStyle/>
          <a:p>
            <a:r>
              <a:rPr lang="zh-CN" altLang="en-US" sz="2400" b="1">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《论持久战》的内容精要</a:t>
            </a:r>
            <a:endParaRPr lang="zh-CN" altLang="en-US" sz="2400" b="1">
              <a:solidFill>
                <a:srgbClr val="C00000"/>
              </a:solidFill>
              <a:latin typeface="字体视界-NEW魏碑体" panose="02010601030101010101" pitchFamily="2" charset="-122"/>
              <a:ea typeface="字体视界-NEW魏碑体" panose="02010601030101010101" pitchFamily="2" charset="-122"/>
            </a:endParaRPr>
          </a:p>
        </p:txBody>
      </p:sp>
      <p:sp>
        <p:nvSpPr>
          <p:cNvPr id="28" name="Freeform 29"/>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pic>
        <p:nvPicPr>
          <p:cNvPr id="3" name="图片 2"/>
          <p:cNvPicPr>
            <a:picLocks noChangeAspect="1"/>
          </p:cNvPicPr>
          <p:nvPr/>
        </p:nvPicPr>
        <p:blipFill>
          <a:blip r:embed="rId2"/>
          <a:stretch>
            <a:fillRect/>
          </a:stretch>
        </p:blipFill>
        <p:spPr>
          <a:xfrm>
            <a:off x="183515" y="2122170"/>
            <a:ext cx="5380990" cy="3947795"/>
          </a:xfrm>
          <a:prstGeom prst="rect">
            <a:avLst/>
          </a:prstGeom>
        </p:spPr>
      </p:pic>
      <p:sp>
        <p:nvSpPr>
          <p:cNvPr id="4" name="文本框 3"/>
          <p:cNvSpPr txBox="1"/>
          <p:nvPr/>
        </p:nvSpPr>
        <p:spPr>
          <a:xfrm>
            <a:off x="183515" y="1080770"/>
            <a:ext cx="5915660" cy="829945"/>
          </a:xfrm>
          <a:prstGeom prst="rect">
            <a:avLst/>
          </a:prstGeom>
        </p:spPr>
        <p:txBody>
          <a:bodyPr wrap="square">
            <a:spAutoFit/>
            <a:extLst>
              <a:ext uri="{4A0BC546-FE56-4ADE-93B0-CB8AF2F6F144}">
                <wpsdc:textFrameExt xmlns:wpsdc="http://www.wps.cn/officeDocument/2022/drawingmlCustomData" type="title"/>
              </a:ext>
            </a:extLst>
          </a:bodyPr>
          <a:p>
            <a:pPr algn="l"/>
            <a:r>
              <a:rPr lang="zh-CN" altLang="en-US" sz="4800" b="1" spc="400">
                <a:ln/>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rPr>
              <a:t>民兵</a:t>
            </a:r>
            <a:r>
              <a:rPr lang="en-US" altLang="zh-CN" sz="4800" b="1" spc="400">
                <a:ln/>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rPr>
              <a:t>——</a:t>
            </a:r>
            <a:r>
              <a:rPr lang="zh-CN" altLang="en-US" sz="4800" b="1" spc="400">
                <a:ln/>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rPr>
              <a:t>胜利之本</a:t>
            </a:r>
            <a:endParaRPr lang="zh-CN" altLang="en-US" sz="4800" b="1" spc="400">
              <a:ln/>
              <a:solidFill>
                <a:schemeClr val="accent1"/>
              </a:solidFill>
              <a:effectLst>
                <a:outerShdw blurRad="38100" dist="25400" dir="5400000" algn="ctr" rotWithShape="0">
                  <a:srgbClr val="6E747A">
                    <a:alpha val="43000"/>
                  </a:srgbClr>
                </a:outerShdw>
              </a:effectLst>
              <a:latin typeface="Arial" panose="020B0604020202020204" pitchFamily="34" charset="0"/>
              <a:ea typeface="微软雅黑" panose="020B0503020204020204" pitchFamily="34" charset="-122"/>
            </a:endParaRPr>
          </a:p>
        </p:txBody>
      </p:sp>
      <p:graphicFrame>
        <p:nvGraphicFramePr>
          <p:cNvPr id="30" name="图示 29"/>
          <p:cNvGraphicFramePr/>
          <p:nvPr/>
        </p:nvGraphicFramePr>
        <p:xfrm>
          <a:off x="6537960" y="2061210"/>
          <a:ext cx="4659630" cy="3554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0375"/>
          </a:xfrm>
          <a:prstGeom prst="rect">
            <a:avLst/>
          </a:prstGeom>
        </p:spPr>
        <p:txBody>
          <a:bodyPr wrap="square">
            <a:spAutoFit/>
          </a:bodyPr>
          <a:lstStyle/>
          <a:p>
            <a:r>
              <a:rPr lang="zh-CN" altLang="en-US" sz="2400" b="1">
                <a:solidFill>
                  <a:schemeClr val="accent1"/>
                </a:solidFill>
                <a:latin typeface="字体视界-NEW魏碑体" panose="02010601030101010101" pitchFamily="2" charset="-122"/>
                <a:ea typeface="字体视界-NEW魏碑体" panose="02010601030101010101" pitchFamily="2" charset="-122"/>
                <a:cs typeface="+mn-ea"/>
                <a:sym typeface="+mn-lt"/>
              </a:rPr>
              <a:t>第二部分：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《论持久战》的内容精要</a:t>
            </a:r>
            <a:endParaRPr lang="zh-CN" altLang="en-US" sz="2400" b="1">
              <a:solidFill>
                <a:srgbClr val="C00000"/>
              </a:solidFill>
              <a:latin typeface="字体视界-NEW魏碑体" panose="02010601030101010101" pitchFamily="2" charset="-122"/>
              <a:ea typeface="字体视界-NEW魏碑体" panose="02010601030101010101" pitchFamily="2" charset="-122"/>
            </a:endParaRPr>
          </a:p>
        </p:txBody>
      </p:sp>
      <p:sp>
        <p:nvSpPr>
          <p:cNvPr id="28" name="Freeform 29"/>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6" name="矩形 5"/>
          <p:cNvSpPr/>
          <p:nvPr/>
        </p:nvSpPr>
        <p:spPr>
          <a:xfrm>
            <a:off x="5393690" y="1422400"/>
            <a:ext cx="6257290" cy="2231390"/>
          </a:xfrm>
          <a:prstGeom prst="rect">
            <a:avLst/>
          </a:prstGeom>
          <a:noFill/>
          <a:ln w="28575" cap="flat" cmpd="sng" algn="ctr">
            <a:solidFill>
              <a:srgbClr val="C00000"/>
            </a:solidFill>
            <a:prstDash val="sysDot"/>
          </a:ln>
          <a:effectLst/>
        </p:spPr>
        <p:txBody>
          <a:bodyPr rtlCol="0" anchor="ctr"/>
          <a:lstStyle/>
          <a:p>
            <a:pPr algn="ctr" fontAlgn="base">
              <a:spcBef>
                <a:spcPct val="0"/>
              </a:spcBef>
              <a:spcAft>
                <a:spcPct val="0"/>
              </a:spcAft>
              <a:buFont typeface="Arial" panose="020B0604020202020204" pitchFamily="34" charset="0"/>
              <a:buNone/>
              <a:defRPr/>
            </a:pPr>
            <a:endParaRPr lang="zh-CN" altLang="en-US" sz="1350" kern="0">
              <a:solidFill>
                <a:srgbClr val="535258"/>
              </a:solidFill>
              <a:latin typeface="Arial" panose="020B0604020202020204"/>
              <a:ea typeface="微软雅黑" panose="020B0503020204020204" pitchFamily="34" charset="-122"/>
            </a:endParaRPr>
          </a:p>
        </p:txBody>
      </p:sp>
      <p:sp>
        <p:nvSpPr>
          <p:cNvPr id="7" name="矩形 24"/>
          <p:cNvSpPr>
            <a:spLocks noChangeArrowheads="1"/>
          </p:cNvSpPr>
          <p:nvPr/>
        </p:nvSpPr>
        <p:spPr bwMode="auto">
          <a:xfrm>
            <a:off x="5499135" y="1585010"/>
            <a:ext cx="5929277"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defTabSz="1219200" eaLnBrk="1" hangingPunct="1">
              <a:lnSpc>
                <a:spcPct val="150000"/>
              </a:lnSpc>
            </a:pPr>
            <a:r>
              <a:rPr sz="1600" dirty="0">
                <a:latin typeface="微软雅黑" panose="020B0503020204020204" pitchFamily="34" charset="-122"/>
                <a:ea typeface="微软雅黑" panose="020B0503020204020204" pitchFamily="34" charset="-122"/>
              </a:rPr>
              <a:t>毛泽东指出:“中日战争不是任何别的战争，乃是半殖民地半封建的中国和帝国主义的日本之间在二十世纪三十年代进行的一个决死的战争。”从深层度上诠释了中日战争的实质:日本是一个强大的帝国主义国家，但侵略战，但反侵略争是野蛮的、非正义的;中国是个落后的半封建半殖民地的国家战争是正义的，进步的。</a:t>
            </a:r>
            <a:endParaRPr sz="1600" dirty="0">
              <a:latin typeface="微软雅黑" panose="020B0503020204020204" pitchFamily="34" charset="-122"/>
              <a:ea typeface="微软雅黑" panose="020B0503020204020204" pitchFamily="34" charset="-122"/>
            </a:endParaRPr>
          </a:p>
          <a:p>
            <a:pPr algn="just" defTabSz="1219200" eaLnBrk="1" hangingPunct="1">
              <a:lnSpc>
                <a:spcPct val="150000"/>
              </a:lnSpc>
            </a:pPr>
            <a:endParaRPr lang="zh-CN" altLang="en-US" sz="16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95" y="1727201"/>
            <a:ext cx="4783464" cy="5130799"/>
          </a:xfrm>
          <a:prstGeom prst="rect">
            <a:avLst/>
          </a:prstGeom>
        </p:spPr>
      </p:pic>
      <p:pic>
        <p:nvPicPr>
          <p:cNvPr id="4" name="图片 3"/>
          <p:cNvPicPr>
            <a:picLocks noChangeAspect="1"/>
          </p:cNvPicPr>
          <p:nvPr/>
        </p:nvPicPr>
        <p:blipFill>
          <a:blip r:embed="rId3"/>
          <a:stretch>
            <a:fillRect/>
          </a:stretch>
        </p:blipFill>
        <p:spPr>
          <a:xfrm>
            <a:off x="5474970" y="4154805"/>
            <a:ext cx="5953125" cy="21431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1500"/>
                            </p:stCondLst>
                            <p:childTnLst>
                              <p:par>
                                <p:cTn id="38" presetID="21" presetClass="entr" presetSubtype="1"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heel(1)">
                                      <p:cBhvr>
                                        <p:cTn id="40" dur="1000"/>
                                        <p:tgtEl>
                                          <p:spTgt spid="6"/>
                                        </p:tgtEl>
                                      </p:cBhvr>
                                    </p:animEffect>
                                  </p:childTnLst>
                                </p:cTn>
                              </p:par>
                            </p:childTnLst>
                          </p:cTn>
                        </p:par>
                        <p:par>
                          <p:cTn id="41" fill="hold">
                            <p:stCondLst>
                              <p:cond delay="2500"/>
                            </p:stCondLst>
                            <p:childTnLst>
                              <p:par>
                                <p:cTn id="42" presetID="12" presetClass="entr" presetSubtype="1"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p:tgtEl>
                                          <p:spTgt spid="7"/>
                                        </p:tgtEl>
                                        <p:attrNameLst>
                                          <p:attrName>ppt_y</p:attrName>
                                        </p:attrNameLst>
                                      </p:cBhvr>
                                      <p:tavLst>
                                        <p:tav tm="0">
                                          <p:val>
                                            <p:strVal val="#ppt_y-#ppt_h*1.125000"/>
                                          </p:val>
                                        </p:tav>
                                        <p:tav tm="100000">
                                          <p:val>
                                            <p:strVal val="#ppt_y"/>
                                          </p:val>
                                        </p:tav>
                                      </p:tavLst>
                                    </p:anim>
                                    <p:animEffect transition="in" filter="wipe(down)">
                                      <p:cBhvr>
                                        <p:cTn id="45" dur="500"/>
                                        <p:tgtEl>
                                          <p:spTgt spid="7"/>
                                        </p:tgtEl>
                                      </p:cBhvr>
                                    </p:animEffect>
                                  </p:childTnLst>
                                </p:cTn>
                              </p:par>
                            </p:childTnLst>
                          </p:cTn>
                        </p:par>
                        <p:par>
                          <p:cTn id="46" fill="hold">
                            <p:stCondLst>
                              <p:cond delay="3000"/>
                            </p:stCondLst>
                            <p:childTnLst>
                              <p:par>
                                <p:cTn id="47" presetID="22" presetClass="entr" presetSubtype="4" fill="hold" nodeType="after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bldLvl="0"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2"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3"/>
          <a:stretch>
            <a:fillRect/>
          </a:stretch>
        </p:blipFill>
        <p:spPr>
          <a:xfrm rot="20902340" flipH="1">
            <a:off x="686735" y="622930"/>
            <a:ext cx="3143832" cy="1309931"/>
          </a:xfrm>
          <a:prstGeom prst="rect">
            <a:avLst/>
          </a:prstGeom>
        </p:spPr>
      </p:pic>
      <p:sp>
        <p:nvSpPr>
          <p:cNvPr id="75" name="文本框 74"/>
          <p:cNvSpPr txBox="1"/>
          <p:nvPr/>
        </p:nvSpPr>
        <p:spPr>
          <a:xfrm>
            <a:off x="4460240" y="2467132"/>
            <a:ext cx="3243580" cy="1014730"/>
          </a:xfrm>
          <a:prstGeom prst="rect">
            <a:avLst/>
          </a:prstGeom>
          <a:noFill/>
        </p:spPr>
        <p:txBody>
          <a:bodyPr wrap="none" rtlCol="0">
            <a:spAutoFit/>
          </a:bodyPr>
          <a:lstStyle/>
          <a:p>
            <a:r>
              <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rPr>
              <a:t>第三部分</a:t>
            </a:r>
            <a:endPar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7" name="Freeform 29"/>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8" name="文本框 77"/>
          <p:cNvSpPr txBox="1"/>
          <p:nvPr/>
        </p:nvSpPr>
        <p:spPr>
          <a:xfrm>
            <a:off x="1418055" y="3393756"/>
            <a:ext cx="9364980" cy="1014730"/>
          </a:xfrm>
          <a:prstGeom prst="rect">
            <a:avLst/>
          </a:prstGeom>
          <a:noFill/>
        </p:spPr>
        <p:txBody>
          <a:bodyPr wrap="none" rtlCol="0">
            <a:spAutoFit/>
          </a:bodyPr>
          <a:lstStyle/>
          <a:p>
            <a:pPr algn="ctr"/>
            <a:r>
              <a:rPr lang="zh-CN" altLang="en-US" sz="6000" b="1" dirty="0">
                <a:solidFill>
                  <a:srgbClr val="C00000"/>
                </a:solidFill>
                <a:latin typeface="字体视界-NEW魏碑体" panose="02010601030101010101" pitchFamily="2" charset="-122"/>
                <a:ea typeface="字体视界-NEW魏碑体" panose="02010601030101010101" pitchFamily="2" charset="-122"/>
                <a:sym typeface="+mn-ea"/>
              </a:rPr>
              <a:t>《论持久战》中的经典语句</a:t>
            </a:r>
            <a:endParaRPr lang="zh-CN" altLang="en-US" sz="6000" b="1" dirty="0">
              <a:solidFill>
                <a:srgbClr val="C00000"/>
              </a:solidFill>
              <a:latin typeface="字体视界-NEW魏碑体" panose="02010601030101010101" pitchFamily="2" charset="-122"/>
              <a:ea typeface="字体视界-NEW魏碑体" panose="02010601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childTnLst>
                          </p:cTn>
                        </p:par>
                        <p:par>
                          <p:cTn id="31" fill="hold">
                            <p:stCondLst>
                              <p:cond delay="2500"/>
                            </p:stCondLst>
                            <p:childTnLst>
                              <p:par>
                                <p:cTn id="32" presetID="23" presetClass="entr" presetSubtype="36" fill="hold" grpId="0" nodeType="after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1000" fill="hold"/>
                                        <p:tgtEl>
                                          <p:spTgt spid="77"/>
                                        </p:tgtEl>
                                        <p:attrNameLst>
                                          <p:attrName>ppt_w</p:attrName>
                                        </p:attrNameLst>
                                      </p:cBhvr>
                                      <p:tavLst>
                                        <p:tav tm="0">
                                          <p:val>
                                            <p:strVal val="(6*min(max(#ppt_w*#ppt_h,.3),1)-7.4)/-.7*#ppt_w"/>
                                          </p:val>
                                        </p:tav>
                                        <p:tav tm="100000">
                                          <p:val>
                                            <p:strVal val="#ppt_w"/>
                                          </p:val>
                                        </p:tav>
                                      </p:tavLst>
                                    </p:anim>
                                    <p:anim calcmode="lin" valueType="num">
                                      <p:cBhvr>
                                        <p:cTn id="35" dur="1000" fill="hold"/>
                                        <p:tgtEl>
                                          <p:spTgt spid="77"/>
                                        </p:tgtEl>
                                        <p:attrNameLst>
                                          <p:attrName>ppt_h</p:attrName>
                                        </p:attrNameLst>
                                      </p:cBhvr>
                                      <p:tavLst>
                                        <p:tav tm="0">
                                          <p:val>
                                            <p:strVal val="(6*min(max(#ppt_w*#ppt_h,.3),1)-7.4)/-.7*#ppt_h"/>
                                          </p:val>
                                        </p:tav>
                                        <p:tav tm="100000">
                                          <p:val>
                                            <p:strVal val="#ppt_h"/>
                                          </p:val>
                                        </p:tav>
                                      </p:tavLst>
                                    </p:anim>
                                    <p:anim calcmode="lin" valueType="num">
                                      <p:cBhvr>
                                        <p:cTn id="36" dur="1000" fill="hold"/>
                                        <p:tgtEl>
                                          <p:spTgt spid="77"/>
                                        </p:tgtEl>
                                        <p:attrNameLst>
                                          <p:attrName>ppt_x</p:attrName>
                                        </p:attrNameLst>
                                      </p:cBhvr>
                                      <p:tavLst>
                                        <p:tav tm="0">
                                          <p:val>
                                            <p:fltVal val="0.5"/>
                                          </p:val>
                                        </p:tav>
                                        <p:tav tm="100000">
                                          <p:val>
                                            <p:strVal val="#ppt_x"/>
                                          </p:val>
                                        </p:tav>
                                      </p:tavLst>
                                    </p:anim>
                                    <p:anim calcmode="lin" valueType="num">
                                      <p:cBhvr>
                                        <p:cTn id="37" dur="1000" fill="hold"/>
                                        <p:tgtEl>
                                          <p:spTgt spid="77"/>
                                        </p:tgtEl>
                                        <p:attrNameLst>
                                          <p:attrName>ppt_y</p:attrName>
                                        </p:attrNameLst>
                                      </p:cBhvr>
                                      <p:tavLst>
                                        <p:tav tm="0">
                                          <p:val>
                                            <p:strVal val="1+(6*min(max(#ppt_w*#ppt_h,.3),1)-7.4)/-.7*#ppt_h/2"/>
                                          </p:val>
                                        </p:tav>
                                        <p:tav tm="100000">
                                          <p:val>
                                            <p:strVal val="#ppt_y"/>
                                          </p:val>
                                        </p:tav>
                                      </p:tavLst>
                                    </p:anim>
                                  </p:childTnLst>
                                </p:cTn>
                              </p:par>
                              <p:par>
                                <p:cTn id="38" presetID="53" presetClass="entr" presetSubtype="16" fill="hold" grpId="0" nodeType="withEffect">
                                  <p:stCondLst>
                                    <p:cond delay="400"/>
                                  </p:stCondLst>
                                  <p:childTnLst>
                                    <p:set>
                                      <p:cBhvr>
                                        <p:cTn id="39" dur="1" fill="hold">
                                          <p:stCondLst>
                                            <p:cond delay="0"/>
                                          </p:stCondLst>
                                        </p:cTn>
                                        <p:tgtEl>
                                          <p:spTgt spid="78"/>
                                        </p:tgtEl>
                                        <p:attrNameLst>
                                          <p:attrName>style.visibility</p:attrName>
                                        </p:attrNameLst>
                                      </p:cBhvr>
                                      <p:to>
                                        <p:strVal val="visible"/>
                                      </p:to>
                                    </p:set>
                                    <p:anim calcmode="lin" valueType="num">
                                      <p:cBhvr>
                                        <p:cTn id="40" dur="250" fill="hold"/>
                                        <p:tgtEl>
                                          <p:spTgt spid="78"/>
                                        </p:tgtEl>
                                        <p:attrNameLst>
                                          <p:attrName>ppt_w</p:attrName>
                                        </p:attrNameLst>
                                      </p:cBhvr>
                                      <p:tavLst>
                                        <p:tav tm="0">
                                          <p:val>
                                            <p:fltVal val="0"/>
                                          </p:val>
                                        </p:tav>
                                        <p:tav tm="100000">
                                          <p:val>
                                            <p:strVal val="#ppt_w"/>
                                          </p:val>
                                        </p:tav>
                                      </p:tavLst>
                                    </p:anim>
                                    <p:anim calcmode="lin" valueType="num">
                                      <p:cBhvr>
                                        <p:cTn id="41" dur="250" fill="hold"/>
                                        <p:tgtEl>
                                          <p:spTgt spid="78"/>
                                        </p:tgtEl>
                                        <p:attrNameLst>
                                          <p:attrName>ppt_h</p:attrName>
                                        </p:attrNameLst>
                                      </p:cBhvr>
                                      <p:tavLst>
                                        <p:tav tm="0">
                                          <p:val>
                                            <p:fltVal val="0"/>
                                          </p:val>
                                        </p:tav>
                                        <p:tav tm="100000">
                                          <p:val>
                                            <p:strVal val="#ppt_h"/>
                                          </p:val>
                                        </p:tav>
                                      </p:tavLst>
                                    </p:anim>
                                    <p:animEffect transition="in" filter="fade">
                                      <p:cBhvr>
                                        <p:cTn id="42" dur="250"/>
                                        <p:tgtEl>
                                          <p:spTgt spid="78"/>
                                        </p:tgtEl>
                                      </p:cBhvr>
                                    </p:animEffect>
                                  </p:childTnLst>
                                </p:cTn>
                              </p:par>
                              <p:par>
                                <p:cTn id="43" presetID="6" presetClass="emph" presetSubtype="0" decel="100000" fill="hold" grpId="1" nodeType="withEffect">
                                  <p:stCondLst>
                                    <p:cond delay="600"/>
                                  </p:stCondLst>
                                  <p:childTnLst>
                                    <p:animScale>
                                      <p:cBhvr>
                                        <p:cTn id="44" dur="250" fill="hold"/>
                                        <p:tgtEl>
                                          <p:spTgt spid="78"/>
                                        </p:tgtEl>
                                      </p:cBhvr>
                                      <p:by x="120000" y="120000"/>
                                    </p:animScale>
                                  </p:childTnLst>
                                </p:cTn>
                              </p:par>
                              <p:par>
                                <p:cTn id="45" presetID="6" presetClass="emph" presetSubtype="0" decel="100000" fill="hold" grpId="2" nodeType="withEffect">
                                  <p:stCondLst>
                                    <p:cond delay="800"/>
                                  </p:stCondLst>
                                  <p:childTnLst>
                                    <p:animScale>
                                      <p:cBhvr>
                                        <p:cTn id="46"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7" grpId="0" bldLvl="0" animBg="1"/>
      <p:bldP spid="78" grpId="0"/>
      <p:bldP spid="78" grpId="1"/>
      <p:bldP spid="78" grpId="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450" y="353060"/>
            <a:ext cx="5782310" cy="829945"/>
          </a:xfrm>
          <a:prstGeom prst="rect">
            <a:avLst/>
          </a:prstGeom>
        </p:spPr>
        <p:txBody>
          <a:bodyPr wrap="square">
            <a:spAutoFit/>
          </a:bodyPr>
          <a:lstStyle/>
          <a:p>
            <a:r>
              <a:rPr lang="zh-CN" altLang="en-US" sz="2400" b="1">
                <a:solidFill>
                  <a:schemeClr val="accent1"/>
                </a:solidFill>
                <a:latin typeface="字体视界-NEW魏碑体" panose="02010601030101010101" pitchFamily="2" charset="-122"/>
                <a:ea typeface="字体视界-NEW魏碑体" panose="02010601030101010101" pitchFamily="2" charset="-122"/>
                <a:cs typeface="+mn-ea"/>
                <a:sym typeface="+mn-lt"/>
              </a:rPr>
              <a:t>第三部分：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《论持久战》中的经典语句</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a:p>
            <a:endParaRPr lang="zh-CN" altLang="en-US" sz="2400" b="1">
              <a:solidFill>
                <a:srgbClr val="C00000"/>
              </a:solidFill>
              <a:latin typeface="字体视界-NEW魏碑体" panose="02010601030101010101" pitchFamily="2" charset="-122"/>
              <a:ea typeface="字体视界-NEW魏碑体" panose="02010601030101010101" pitchFamily="2" charset="-122"/>
            </a:endParaRPr>
          </a:p>
        </p:txBody>
      </p:sp>
      <p:sp>
        <p:nvSpPr>
          <p:cNvPr id="28" name="Freeform 29"/>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10" name="矩形 9"/>
          <p:cNvSpPr/>
          <p:nvPr/>
        </p:nvSpPr>
        <p:spPr>
          <a:xfrm>
            <a:off x="5417185" y="1706245"/>
            <a:ext cx="6081395" cy="2668905"/>
          </a:xfrm>
          <a:prstGeom prst="rect">
            <a:avLst/>
          </a:prstGeom>
          <a:noFill/>
          <a:ln w="28575" cap="flat" cmpd="sng" algn="ctr">
            <a:solidFill>
              <a:srgbClr val="C00000"/>
            </a:solidFill>
            <a:prstDash val="sysDot"/>
          </a:ln>
          <a:effectLst/>
        </p:spPr>
        <p:txBody>
          <a:bodyPr rtlCol="0" anchor="ctr"/>
          <a:lstStyle/>
          <a:p>
            <a:pPr algn="ctr" fontAlgn="base">
              <a:spcBef>
                <a:spcPct val="0"/>
              </a:spcBef>
              <a:spcAft>
                <a:spcPct val="0"/>
              </a:spcAft>
              <a:buFont typeface="Arial" panose="020B0604020202020204" pitchFamily="34" charset="0"/>
              <a:buNone/>
              <a:defRPr/>
            </a:pPr>
            <a:endParaRPr lang="zh-CN" altLang="en-US" sz="1350" kern="0">
              <a:solidFill>
                <a:srgbClr val="535258"/>
              </a:solidFill>
              <a:latin typeface="Arial" panose="020B0604020202020204"/>
              <a:ea typeface="微软雅黑" panose="020B0503020204020204" pitchFamily="34" charset="-122"/>
            </a:endParaRPr>
          </a:p>
        </p:txBody>
      </p:sp>
      <p:sp>
        <p:nvSpPr>
          <p:cNvPr id="11" name="矩形 24"/>
          <p:cNvSpPr>
            <a:spLocks noChangeArrowheads="1"/>
          </p:cNvSpPr>
          <p:nvPr/>
        </p:nvSpPr>
        <p:spPr bwMode="auto">
          <a:xfrm>
            <a:off x="5493301" y="2072047"/>
            <a:ext cx="5929277"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defTabSz="1219200" eaLnBrk="1" hangingPunct="1">
              <a:lnSpc>
                <a:spcPct val="150000"/>
              </a:lnSpc>
            </a:pPr>
            <a:r>
              <a:rPr sz="1600" dirty="0">
                <a:latin typeface="微软雅黑" panose="020B0503020204020204" pitchFamily="34" charset="-122"/>
                <a:ea typeface="微软雅黑" panose="020B0503020204020204" pitchFamily="34" charset="-122"/>
              </a:rPr>
              <a:t>日本是强国，但是地少，人少，经不起长时间的的鏖战;中国人多地大，能够维持较长时间的战争。但这也决定了战争的</a:t>
            </a:r>
            <a:r>
              <a:rPr sz="1600" dirty="0">
                <a:solidFill>
                  <a:srgbClr val="FF0000"/>
                </a:solidFill>
                <a:latin typeface="微软雅黑" panose="020B0503020204020204" pitchFamily="34" charset="-122"/>
                <a:ea typeface="微软雅黑" panose="020B0503020204020204" pitchFamily="34" charset="-122"/>
              </a:rPr>
              <a:t>持久性</a:t>
            </a:r>
            <a:r>
              <a:rPr sz="1600" dirty="0">
                <a:latin typeface="微软雅黑" panose="020B0503020204020204" pitchFamily="34" charset="-122"/>
                <a:ea typeface="微软雅黑" panose="020B0503020204020204" pitchFamily="34" charset="-122"/>
              </a:rPr>
              <a:t>。</a:t>
            </a:r>
            <a:endParaRPr sz="1600" dirty="0">
              <a:latin typeface="微软雅黑" panose="020B0503020204020204" pitchFamily="34" charset="-122"/>
              <a:ea typeface="微软雅黑" panose="020B0503020204020204" pitchFamily="34" charset="-122"/>
            </a:endParaRPr>
          </a:p>
          <a:p>
            <a:pPr algn="just" defTabSz="1219200" eaLnBrk="1" hangingPunct="1">
              <a:lnSpc>
                <a:spcPct val="150000"/>
              </a:lnSpc>
            </a:pPr>
            <a:r>
              <a:rPr sz="1600" dirty="0">
                <a:latin typeface="微软雅黑" panose="020B0503020204020204" pitchFamily="34" charset="-122"/>
                <a:ea typeface="微软雅黑" panose="020B0503020204020204" pitchFamily="34" charset="-122"/>
              </a:rPr>
              <a:t>日本的行为侵害到其他国家的利益不但得不到国际援助和同情，而且会遭到其他国家的抨击，因为</a:t>
            </a:r>
            <a:r>
              <a:rPr sz="1600" dirty="0">
                <a:solidFill>
                  <a:srgbClr val="FF0000"/>
                </a:solidFill>
                <a:latin typeface="微软雅黑" panose="020B0503020204020204" pitchFamily="34" charset="-122"/>
                <a:ea typeface="微软雅黑" panose="020B0503020204020204" pitchFamily="34" charset="-122"/>
              </a:rPr>
              <a:t>正义站在中国这边</a:t>
            </a:r>
            <a:r>
              <a:rPr sz="1600" dirty="0">
                <a:latin typeface="微软雅黑" panose="020B0503020204020204" pitchFamily="34" charset="-122"/>
                <a:ea typeface="微软雅黑" panose="020B0503020204020204" pitchFamily="34" charset="-122"/>
              </a:rPr>
              <a:t>。所以最后</a:t>
            </a:r>
            <a:r>
              <a:rPr sz="1600" dirty="0">
                <a:solidFill>
                  <a:srgbClr val="FF0000"/>
                </a:solidFill>
                <a:latin typeface="微软雅黑" panose="020B0503020204020204" pitchFamily="34" charset="-122"/>
                <a:ea typeface="微软雅黑" panose="020B0503020204020204" pitchFamily="34" charset="-122"/>
              </a:rPr>
              <a:t>胜利属于中国</a:t>
            </a:r>
            <a:r>
              <a:rPr sz="1600" dirty="0">
                <a:latin typeface="微软雅黑" panose="020B0503020204020204" pitchFamily="34" charset="-122"/>
                <a:ea typeface="微软雅黑" panose="020B0503020204020204" pitchFamily="34" charset="-122"/>
              </a:rPr>
              <a:t>而不属于日本</a:t>
            </a:r>
            <a:r>
              <a:rPr lang="zh-CN" sz="1600" dirty="0">
                <a:latin typeface="微软雅黑" panose="020B0503020204020204" pitchFamily="34" charset="-122"/>
                <a:ea typeface="微软雅黑" panose="020B0503020204020204" pitchFamily="34" charset="-122"/>
              </a:rPr>
              <a:t>。</a:t>
            </a:r>
            <a:endParaRPr lang="zh-CN" sz="16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852" y="1767447"/>
            <a:ext cx="4255336" cy="5090553"/>
          </a:xfrm>
          <a:prstGeom prst="rect">
            <a:avLst/>
          </a:prstGeom>
        </p:spPr>
      </p:pic>
      <p:pic>
        <p:nvPicPr>
          <p:cNvPr id="17" name="图片 16"/>
          <p:cNvPicPr>
            <a:picLocks noChangeAspect="1"/>
          </p:cNvPicPr>
          <p:nvPr/>
        </p:nvPicPr>
        <p:blipFill>
          <a:blip r:embed="rId1"/>
          <a:stretch>
            <a:fillRect/>
          </a:stretch>
        </p:blipFill>
        <p:spPr>
          <a:xfrm>
            <a:off x="1296987" y="5026146"/>
            <a:ext cx="11058525" cy="18192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1500"/>
                            </p:stCondLst>
                            <p:childTnLst>
                              <p:par>
                                <p:cTn id="38" presetID="21" presetClass="entr" presetSubtype="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heel(1)">
                                      <p:cBhvr>
                                        <p:cTn id="40" dur="1000"/>
                                        <p:tgtEl>
                                          <p:spTgt spid="10"/>
                                        </p:tgtEl>
                                      </p:cBhvr>
                                    </p:animEffect>
                                  </p:childTnLst>
                                </p:cTn>
                              </p:par>
                            </p:childTnLst>
                          </p:cTn>
                        </p:par>
                        <p:par>
                          <p:cTn id="41" fill="hold">
                            <p:stCondLst>
                              <p:cond delay="2500"/>
                            </p:stCondLst>
                            <p:childTnLst>
                              <p:par>
                                <p:cTn id="42" presetID="12" presetClass="entr" presetSubtype="1"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p:tgtEl>
                                          <p:spTgt spid="11"/>
                                        </p:tgtEl>
                                        <p:attrNameLst>
                                          <p:attrName>ppt_y</p:attrName>
                                        </p:attrNameLst>
                                      </p:cBhvr>
                                      <p:tavLst>
                                        <p:tav tm="0">
                                          <p:val>
                                            <p:strVal val="#ppt_y-#ppt_h*1.125000"/>
                                          </p:val>
                                        </p:tav>
                                        <p:tav tm="100000">
                                          <p:val>
                                            <p:strVal val="#ppt_y"/>
                                          </p:val>
                                        </p:tav>
                                      </p:tavLst>
                                    </p:anim>
                                    <p:animEffect transition="in" filter="wipe(down)">
                                      <p:cBhvr>
                                        <p:cTn id="45" dur="500"/>
                                        <p:tgtEl>
                                          <p:spTgt spid="11"/>
                                        </p:tgtEl>
                                      </p:cBhvr>
                                    </p:animEffect>
                                  </p:childTnLst>
                                </p:cTn>
                              </p:par>
                            </p:childTnLst>
                          </p:cTn>
                        </p:par>
                        <p:par>
                          <p:cTn id="46" fill="hold">
                            <p:stCondLst>
                              <p:cond delay="3000"/>
                            </p:stCondLst>
                            <p:childTnLst>
                              <p:par>
                                <p:cTn id="47" presetID="22" presetClass="entr" presetSubtype="4" fill="hold" nodeType="after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down)">
                                      <p:cBhvr>
                                        <p:cTn id="49" dur="500"/>
                                        <p:tgtEl>
                                          <p:spTgt spid="4"/>
                                        </p:tgtEl>
                                      </p:cBhvr>
                                    </p:animEffect>
                                  </p:childTnLst>
                                </p:cTn>
                              </p:par>
                            </p:childTnLst>
                          </p:cTn>
                        </p:par>
                        <p:par>
                          <p:cTn id="50" fill="hold">
                            <p:stCondLst>
                              <p:cond delay="3500"/>
                            </p:stCondLst>
                            <p:childTnLst>
                              <p:par>
                                <p:cTn id="51" presetID="42" presetClass="entr" presetSubtype="0" fill="hold"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1000"/>
                                        <p:tgtEl>
                                          <p:spTgt spid="17"/>
                                        </p:tgtEl>
                                      </p:cBhvr>
                                    </p:animEffect>
                                    <p:anim calcmode="lin" valueType="num">
                                      <p:cBhvr>
                                        <p:cTn id="54" dur="1000" fill="hold"/>
                                        <p:tgtEl>
                                          <p:spTgt spid="17"/>
                                        </p:tgtEl>
                                        <p:attrNameLst>
                                          <p:attrName>ppt_x</p:attrName>
                                        </p:attrNameLst>
                                      </p:cBhvr>
                                      <p:tavLst>
                                        <p:tav tm="0">
                                          <p:val>
                                            <p:strVal val="#ppt_x"/>
                                          </p:val>
                                        </p:tav>
                                        <p:tav tm="100000">
                                          <p:val>
                                            <p:strVal val="#ppt_x"/>
                                          </p:val>
                                        </p:tav>
                                      </p:tavLst>
                                    </p:anim>
                                    <p:anim calcmode="lin" valueType="num">
                                      <p:cBhvr>
                                        <p:cTn id="5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10" grpId="0" bldLvl="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screen"/>
          <a:stretch>
            <a:fillRect/>
          </a:stretch>
        </p:blipFill>
        <p:spPr>
          <a:xfrm>
            <a:off x="5382578" y="5737759"/>
            <a:ext cx="6809422" cy="1120241"/>
          </a:xfrm>
          <a:prstGeom prst="rect">
            <a:avLst/>
          </a:prstGeom>
        </p:spPr>
      </p:pic>
      <p:pic>
        <p:nvPicPr>
          <p:cNvPr id="19" name="图片 18"/>
          <p:cNvPicPr>
            <a:picLocks noChangeAspect="1"/>
          </p:cNvPicPr>
          <p:nvPr/>
        </p:nvPicPr>
        <p:blipFill>
          <a:blip r:embed="rId2" cstate="screen"/>
          <a:stretch>
            <a:fillRect/>
          </a:stretch>
        </p:blipFill>
        <p:spPr>
          <a:xfrm>
            <a:off x="0" y="4049960"/>
            <a:ext cx="4460240" cy="2788989"/>
          </a:xfrm>
          <a:prstGeom prst="rect">
            <a:avLst/>
          </a:prstGeom>
        </p:spPr>
      </p:pic>
      <p:pic>
        <p:nvPicPr>
          <p:cNvPr id="74" name="图片 73"/>
          <p:cNvPicPr>
            <a:picLocks noChangeAspect="1"/>
          </p:cNvPicPr>
          <p:nvPr/>
        </p:nvPicPr>
        <p:blipFill>
          <a:blip r:embed="rId3"/>
          <a:stretch>
            <a:fillRect/>
          </a:stretch>
        </p:blipFill>
        <p:spPr>
          <a:xfrm rot="20902340" flipH="1">
            <a:off x="686735" y="622930"/>
            <a:ext cx="3143832" cy="1309931"/>
          </a:xfrm>
          <a:prstGeom prst="rect">
            <a:avLst/>
          </a:prstGeom>
        </p:spPr>
      </p:pic>
      <p:sp>
        <p:nvSpPr>
          <p:cNvPr id="75" name="文本框 74"/>
          <p:cNvSpPr txBox="1"/>
          <p:nvPr/>
        </p:nvSpPr>
        <p:spPr>
          <a:xfrm>
            <a:off x="4460240" y="2467132"/>
            <a:ext cx="3243580" cy="1014730"/>
          </a:xfrm>
          <a:prstGeom prst="rect">
            <a:avLst/>
          </a:prstGeom>
          <a:noFill/>
        </p:spPr>
        <p:txBody>
          <a:bodyPr wrap="none" rtlCol="0">
            <a:spAutoFit/>
          </a:bodyPr>
          <a:lstStyle/>
          <a:p>
            <a:r>
              <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rPr>
              <a:t>第四部分</a:t>
            </a:r>
            <a:endParaRPr lang="zh-CN" altLang="en-US" sz="6000" b="1"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7" name="Freeform 29"/>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78" name="文本框 77"/>
          <p:cNvSpPr txBox="1"/>
          <p:nvPr/>
        </p:nvSpPr>
        <p:spPr>
          <a:xfrm>
            <a:off x="1800643" y="3393756"/>
            <a:ext cx="8599805" cy="1938020"/>
          </a:xfrm>
          <a:prstGeom prst="rect">
            <a:avLst/>
          </a:prstGeom>
          <a:noFill/>
        </p:spPr>
        <p:txBody>
          <a:bodyPr wrap="none" rtlCol="0">
            <a:spAutoFit/>
          </a:bodyPr>
          <a:lstStyle/>
          <a:p>
            <a:pPr algn="ctr"/>
            <a:r>
              <a:rPr lang="zh-CN" altLang="en-US" sz="6000" b="1" dirty="0">
                <a:solidFill>
                  <a:srgbClr val="C00000"/>
                </a:solidFill>
                <a:latin typeface="字体视界-NEW魏碑体" panose="02010601030101010101" pitchFamily="2" charset="-122"/>
                <a:ea typeface="字体视界-NEW魏碑体" panose="02010601030101010101" pitchFamily="2" charset="-122"/>
                <a:sym typeface="+mn-ea"/>
              </a:rPr>
              <a:t>《论持久战》的现代意义</a:t>
            </a:r>
            <a:endParaRPr lang="zh-CN" altLang="en-US" sz="6000" b="1" dirty="0">
              <a:solidFill>
                <a:srgbClr val="C00000"/>
              </a:solidFill>
              <a:latin typeface="字体视界-NEW魏碑体" panose="02010601030101010101" pitchFamily="2" charset="-122"/>
              <a:ea typeface="字体视界-NEW魏碑体" panose="02010601030101010101" pitchFamily="2" charset="-122"/>
            </a:endParaRPr>
          </a:p>
          <a:p>
            <a:pPr algn="ctr"/>
            <a:endParaRPr lang="zh-CN" altLang="en-US" sz="6000" b="1" dirty="0">
              <a:solidFill>
                <a:srgbClr val="C00000"/>
              </a:solidFill>
              <a:latin typeface="字体视界-NEW魏碑体" panose="02010601030101010101" pitchFamily="2" charset="-122"/>
              <a:ea typeface="字体视界-NEW魏碑体" panose="02010601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par>
                          <p:cTn id="14" fill="hold">
                            <p:stCondLst>
                              <p:cond delay="1500"/>
                            </p:stCondLst>
                            <p:childTnLst>
                              <p:par>
                                <p:cTn id="15" presetID="53" presetClass="entr" presetSubtype="16"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p:cTn id="17" dur="1000" fill="hold"/>
                                        <p:tgtEl>
                                          <p:spTgt spid="74"/>
                                        </p:tgtEl>
                                        <p:attrNameLst>
                                          <p:attrName>ppt_w</p:attrName>
                                        </p:attrNameLst>
                                      </p:cBhvr>
                                      <p:tavLst>
                                        <p:tav tm="0">
                                          <p:val>
                                            <p:fltVal val="0"/>
                                          </p:val>
                                        </p:tav>
                                        <p:tav tm="100000">
                                          <p:val>
                                            <p:strVal val="#ppt_w"/>
                                          </p:val>
                                        </p:tav>
                                      </p:tavLst>
                                    </p:anim>
                                    <p:anim calcmode="lin" valueType="num">
                                      <p:cBhvr>
                                        <p:cTn id="18" dur="1000" fill="hold"/>
                                        <p:tgtEl>
                                          <p:spTgt spid="74"/>
                                        </p:tgtEl>
                                        <p:attrNameLst>
                                          <p:attrName>ppt_h</p:attrName>
                                        </p:attrNameLst>
                                      </p:cBhvr>
                                      <p:tavLst>
                                        <p:tav tm="0">
                                          <p:val>
                                            <p:fltVal val="0"/>
                                          </p:val>
                                        </p:tav>
                                        <p:tav tm="100000">
                                          <p:val>
                                            <p:strVal val="#ppt_h"/>
                                          </p:val>
                                        </p:tav>
                                      </p:tavLst>
                                    </p:anim>
                                    <p:animEffect transition="in" filter="fade">
                                      <p:cBhvr>
                                        <p:cTn id="19" dur="1000"/>
                                        <p:tgtEl>
                                          <p:spTgt spid="74"/>
                                        </p:tgtEl>
                                      </p:cBhvr>
                                    </p:animEffect>
                                  </p:childTnLst>
                                </p:cTn>
                              </p:par>
                              <p:par>
                                <p:cTn id="20" presetID="35" presetClass="path" presetSubtype="0" accel="50000" decel="50000" fill="hold" nodeType="withEffect">
                                  <p:stCondLst>
                                    <p:cond delay="0"/>
                                  </p:stCondLst>
                                  <p:childTnLst>
                                    <p:animMotion origin="layout" path="M 3.54167E-6 -2.59259E-6 L 0.31575 -2.59259E-6 " pathEditMode="relative" rAng="0" ptsTypes="AA">
                                      <p:cBhvr>
                                        <p:cTn id="21" dur="2000" spd="-100000" fill="hold"/>
                                        <p:tgtEl>
                                          <p:spTgt spid="74"/>
                                        </p:tgtEl>
                                        <p:attrNameLst>
                                          <p:attrName>ppt_x</p:attrName>
                                          <p:attrName>ppt_y</p:attrName>
                                        </p:attrNameLst>
                                      </p:cBhvr>
                                      <p:rCtr x="15781" y="0"/>
                                    </p:animMotion>
                                  </p:childTnLst>
                                </p:cTn>
                              </p:par>
                              <p:par>
                                <p:cTn id="22" presetID="53" presetClass="entr" presetSubtype="16" fill="hold" grpId="0" nodeType="withEffect">
                                  <p:stCondLst>
                                    <p:cond delay="400"/>
                                  </p:stCondLst>
                                  <p:childTnLst>
                                    <p:set>
                                      <p:cBhvr>
                                        <p:cTn id="23" dur="1" fill="hold">
                                          <p:stCondLst>
                                            <p:cond delay="0"/>
                                          </p:stCondLst>
                                        </p:cTn>
                                        <p:tgtEl>
                                          <p:spTgt spid="75"/>
                                        </p:tgtEl>
                                        <p:attrNameLst>
                                          <p:attrName>style.visibility</p:attrName>
                                        </p:attrNameLst>
                                      </p:cBhvr>
                                      <p:to>
                                        <p:strVal val="visible"/>
                                      </p:to>
                                    </p:set>
                                    <p:anim calcmode="lin" valueType="num">
                                      <p:cBhvr>
                                        <p:cTn id="24" dur="250" fill="hold"/>
                                        <p:tgtEl>
                                          <p:spTgt spid="75"/>
                                        </p:tgtEl>
                                        <p:attrNameLst>
                                          <p:attrName>ppt_w</p:attrName>
                                        </p:attrNameLst>
                                      </p:cBhvr>
                                      <p:tavLst>
                                        <p:tav tm="0">
                                          <p:val>
                                            <p:fltVal val="0"/>
                                          </p:val>
                                        </p:tav>
                                        <p:tav tm="100000">
                                          <p:val>
                                            <p:strVal val="#ppt_w"/>
                                          </p:val>
                                        </p:tav>
                                      </p:tavLst>
                                    </p:anim>
                                    <p:anim calcmode="lin" valueType="num">
                                      <p:cBhvr>
                                        <p:cTn id="25" dur="250" fill="hold"/>
                                        <p:tgtEl>
                                          <p:spTgt spid="75"/>
                                        </p:tgtEl>
                                        <p:attrNameLst>
                                          <p:attrName>ppt_h</p:attrName>
                                        </p:attrNameLst>
                                      </p:cBhvr>
                                      <p:tavLst>
                                        <p:tav tm="0">
                                          <p:val>
                                            <p:fltVal val="0"/>
                                          </p:val>
                                        </p:tav>
                                        <p:tav tm="100000">
                                          <p:val>
                                            <p:strVal val="#ppt_h"/>
                                          </p:val>
                                        </p:tav>
                                      </p:tavLst>
                                    </p:anim>
                                    <p:animEffect transition="in" filter="fade">
                                      <p:cBhvr>
                                        <p:cTn id="26" dur="250"/>
                                        <p:tgtEl>
                                          <p:spTgt spid="75"/>
                                        </p:tgtEl>
                                      </p:cBhvr>
                                    </p:animEffect>
                                  </p:childTnLst>
                                </p:cTn>
                              </p:par>
                              <p:par>
                                <p:cTn id="27" presetID="6" presetClass="emph" presetSubtype="0" decel="100000" fill="hold" grpId="1" nodeType="withEffect">
                                  <p:stCondLst>
                                    <p:cond delay="600"/>
                                  </p:stCondLst>
                                  <p:childTnLst>
                                    <p:animScale>
                                      <p:cBhvr>
                                        <p:cTn id="28" dur="250" fill="hold"/>
                                        <p:tgtEl>
                                          <p:spTgt spid="75"/>
                                        </p:tgtEl>
                                      </p:cBhvr>
                                      <p:by x="120000" y="120000"/>
                                    </p:animScale>
                                  </p:childTnLst>
                                </p:cTn>
                              </p:par>
                              <p:par>
                                <p:cTn id="29" presetID="6" presetClass="emph" presetSubtype="0" decel="100000" fill="hold" grpId="2" nodeType="withEffect">
                                  <p:stCondLst>
                                    <p:cond delay="800"/>
                                  </p:stCondLst>
                                  <p:childTnLst>
                                    <p:animScale>
                                      <p:cBhvr>
                                        <p:cTn id="30" dur="250" fill="hold"/>
                                        <p:tgtEl>
                                          <p:spTgt spid="75"/>
                                        </p:tgtEl>
                                      </p:cBhvr>
                                      <p:by x="83000" y="83000"/>
                                    </p:animScale>
                                  </p:childTnLst>
                                </p:cTn>
                              </p:par>
                            </p:childTnLst>
                          </p:cTn>
                        </p:par>
                        <p:par>
                          <p:cTn id="31" fill="hold">
                            <p:stCondLst>
                              <p:cond delay="2500"/>
                            </p:stCondLst>
                            <p:childTnLst>
                              <p:par>
                                <p:cTn id="32" presetID="23" presetClass="entr" presetSubtype="36" fill="hold" grpId="0" nodeType="after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1000" fill="hold"/>
                                        <p:tgtEl>
                                          <p:spTgt spid="77"/>
                                        </p:tgtEl>
                                        <p:attrNameLst>
                                          <p:attrName>ppt_w</p:attrName>
                                        </p:attrNameLst>
                                      </p:cBhvr>
                                      <p:tavLst>
                                        <p:tav tm="0">
                                          <p:val>
                                            <p:strVal val="(6*min(max(#ppt_w*#ppt_h,.3),1)-7.4)/-.7*#ppt_w"/>
                                          </p:val>
                                        </p:tav>
                                        <p:tav tm="100000">
                                          <p:val>
                                            <p:strVal val="#ppt_w"/>
                                          </p:val>
                                        </p:tav>
                                      </p:tavLst>
                                    </p:anim>
                                    <p:anim calcmode="lin" valueType="num">
                                      <p:cBhvr>
                                        <p:cTn id="35" dur="1000" fill="hold"/>
                                        <p:tgtEl>
                                          <p:spTgt spid="77"/>
                                        </p:tgtEl>
                                        <p:attrNameLst>
                                          <p:attrName>ppt_h</p:attrName>
                                        </p:attrNameLst>
                                      </p:cBhvr>
                                      <p:tavLst>
                                        <p:tav tm="0">
                                          <p:val>
                                            <p:strVal val="(6*min(max(#ppt_w*#ppt_h,.3),1)-7.4)/-.7*#ppt_h"/>
                                          </p:val>
                                        </p:tav>
                                        <p:tav tm="100000">
                                          <p:val>
                                            <p:strVal val="#ppt_h"/>
                                          </p:val>
                                        </p:tav>
                                      </p:tavLst>
                                    </p:anim>
                                    <p:anim calcmode="lin" valueType="num">
                                      <p:cBhvr>
                                        <p:cTn id="36" dur="1000" fill="hold"/>
                                        <p:tgtEl>
                                          <p:spTgt spid="77"/>
                                        </p:tgtEl>
                                        <p:attrNameLst>
                                          <p:attrName>ppt_x</p:attrName>
                                        </p:attrNameLst>
                                      </p:cBhvr>
                                      <p:tavLst>
                                        <p:tav tm="0">
                                          <p:val>
                                            <p:fltVal val="0.5"/>
                                          </p:val>
                                        </p:tav>
                                        <p:tav tm="100000">
                                          <p:val>
                                            <p:strVal val="#ppt_x"/>
                                          </p:val>
                                        </p:tav>
                                      </p:tavLst>
                                    </p:anim>
                                    <p:anim calcmode="lin" valueType="num">
                                      <p:cBhvr>
                                        <p:cTn id="37" dur="1000" fill="hold"/>
                                        <p:tgtEl>
                                          <p:spTgt spid="77"/>
                                        </p:tgtEl>
                                        <p:attrNameLst>
                                          <p:attrName>ppt_y</p:attrName>
                                        </p:attrNameLst>
                                      </p:cBhvr>
                                      <p:tavLst>
                                        <p:tav tm="0">
                                          <p:val>
                                            <p:strVal val="1+(6*min(max(#ppt_w*#ppt_h,.3),1)-7.4)/-.7*#ppt_h/2"/>
                                          </p:val>
                                        </p:tav>
                                        <p:tav tm="100000">
                                          <p:val>
                                            <p:strVal val="#ppt_y"/>
                                          </p:val>
                                        </p:tav>
                                      </p:tavLst>
                                    </p:anim>
                                  </p:childTnLst>
                                </p:cTn>
                              </p:par>
                              <p:par>
                                <p:cTn id="38" presetID="53" presetClass="entr" presetSubtype="16" fill="hold" grpId="0" nodeType="withEffect">
                                  <p:stCondLst>
                                    <p:cond delay="400"/>
                                  </p:stCondLst>
                                  <p:childTnLst>
                                    <p:set>
                                      <p:cBhvr>
                                        <p:cTn id="39" dur="1" fill="hold">
                                          <p:stCondLst>
                                            <p:cond delay="0"/>
                                          </p:stCondLst>
                                        </p:cTn>
                                        <p:tgtEl>
                                          <p:spTgt spid="78"/>
                                        </p:tgtEl>
                                        <p:attrNameLst>
                                          <p:attrName>style.visibility</p:attrName>
                                        </p:attrNameLst>
                                      </p:cBhvr>
                                      <p:to>
                                        <p:strVal val="visible"/>
                                      </p:to>
                                    </p:set>
                                    <p:anim calcmode="lin" valueType="num">
                                      <p:cBhvr>
                                        <p:cTn id="40" dur="250" fill="hold"/>
                                        <p:tgtEl>
                                          <p:spTgt spid="78"/>
                                        </p:tgtEl>
                                        <p:attrNameLst>
                                          <p:attrName>ppt_w</p:attrName>
                                        </p:attrNameLst>
                                      </p:cBhvr>
                                      <p:tavLst>
                                        <p:tav tm="0">
                                          <p:val>
                                            <p:fltVal val="0"/>
                                          </p:val>
                                        </p:tav>
                                        <p:tav tm="100000">
                                          <p:val>
                                            <p:strVal val="#ppt_w"/>
                                          </p:val>
                                        </p:tav>
                                      </p:tavLst>
                                    </p:anim>
                                    <p:anim calcmode="lin" valueType="num">
                                      <p:cBhvr>
                                        <p:cTn id="41" dur="250" fill="hold"/>
                                        <p:tgtEl>
                                          <p:spTgt spid="78"/>
                                        </p:tgtEl>
                                        <p:attrNameLst>
                                          <p:attrName>ppt_h</p:attrName>
                                        </p:attrNameLst>
                                      </p:cBhvr>
                                      <p:tavLst>
                                        <p:tav tm="0">
                                          <p:val>
                                            <p:fltVal val="0"/>
                                          </p:val>
                                        </p:tav>
                                        <p:tav tm="100000">
                                          <p:val>
                                            <p:strVal val="#ppt_h"/>
                                          </p:val>
                                        </p:tav>
                                      </p:tavLst>
                                    </p:anim>
                                    <p:animEffect transition="in" filter="fade">
                                      <p:cBhvr>
                                        <p:cTn id="42" dur="250"/>
                                        <p:tgtEl>
                                          <p:spTgt spid="78"/>
                                        </p:tgtEl>
                                      </p:cBhvr>
                                    </p:animEffect>
                                  </p:childTnLst>
                                </p:cTn>
                              </p:par>
                              <p:par>
                                <p:cTn id="43" presetID="6" presetClass="emph" presetSubtype="0" decel="100000" fill="hold" grpId="1" nodeType="withEffect">
                                  <p:stCondLst>
                                    <p:cond delay="600"/>
                                  </p:stCondLst>
                                  <p:childTnLst>
                                    <p:animScale>
                                      <p:cBhvr>
                                        <p:cTn id="44" dur="250" fill="hold"/>
                                        <p:tgtEl>
                                          <p:spTgt spid="78"/>
                                        </p:tgtEl>
                                      </p:cBhvr>
                                      <p:by x="120000" y="120000"/>
                                    </p:animScale>
                                  </p:childTnLst>
                                </p:cTn>
                              </p:par>
                              <p:par>
                                <p:cTn id="45" presetID="6" presetClass="emph" presetSubtype="0" decel="100000" fill="hold" grpId="2" nodeType="withEffect">
                                  <p:stCondLst>
                                    <p:cond delay="800"/>
                                  </p:stCondLst>
                                  <p:childTnLst>
                                    <p:animScale>
                                      <p:cBhvr>
                                        <p:cTn id="46" dur="250" fill="hold"/>
                                        <p:tgtEl>
                                          <p:spTgt spid="78"/>
                                        </p:tgtEl>
                                      </p:cBhvr>
                                      <p:by x="83000" y="83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75" grpId="2"/>
      <p:bldP spid="77" grpId="0" bldLvl="0" animBg="1"/>
      <p:bldP spid="78" grpId="0"/>
      <p:bldP spid="78" grpId="1"/>
      <p:bldP spid="78" grpId="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7" y="353095"/>
            <a:ext cx="5262188" cy="46037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第四部分：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《论持久战》的现代意义</a:t>
            </a:r>
            <a:endParaRPr lang="zh-CN" altLang="en-US" sz="2400" b="1">
              <a:solidFill>
                <a:srgbClr val="C00000"/>
              </a:solidFill>
              <a:latin typeface="字体视界-NEW魏碑体" panose="02010601030101010101" pitchFamily="2" charset="-122"/>
              <a:ea typeface="字体视界-NEW魏碑体" panose="02010601030101010101" pitchFamily="2" charset="-122"/>
            </a:endParaRPr>
          </a:p>
        </p:txBody>
      </p:sp>
      <p:sp>
        <p:nvSpPr>
          <p:cNvPr id="28" name="Freeform 29"/>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6" name="矩形 5"/>
          <p:cNvSpPr/>
          <p:nvPr/>
        </p:nvSpPr>
        <p:spPr>
          <a:xfrm>
            <a:off x="576767" y="2671065"/>
            <a:ext cx="5745708" cy="3604209"/>
          </a:xfrm>
          <a:prstGeom prst="rect">
            <a:avLst/>
          </a:prstGeom>
          <a:noFill/>
          <a:ln w="28575" cap="flat" cmpd="sng" algn="ctr">
            <a:solidFill>
              <a:srgbClr val="C00000"/>
            </a:solidFill>
            <a:prstDash val="sysDot"/>
          </a:ln>
          <a:effectLst/>
        </p:spPr>
        <p:txBody>
          <a:bodyPr rtlCol="0" anchor="ctr"/>
          <a:lstStyle/>
          <a:p>
            <a:pPr algn="ctr" fontAlgn="base">
              <a:spcBef>
                <a:spcPct val="0"/>
              </a:spcBef>
              <a:spcAft>
                <a:spcPct val="0"/>
              </a:spcAft>
              <a:buFont typeface="Arial" panose="020B0604020202020204" pitchFamily="34" charset="0"/>
              <a:buNone/>
              <a:defRPr/>
            </a:pPr>
            <a:endParaRPr lang="zh-CN" altLang="en-US" sz="1350" kern="0">
              <a:solidFill>
                <a:srgbClr val="535258"/>
              </a:solidFill>
              <a:latin typeface="Arial" panose="020B0604020202020204"/>
              <a:ea typeface="微软雅黑" panose="020B0503020204020204" pitchFamily="34" charset="-122"/>
            </a:endParaRPr>
          </a:p>
        </p:txBody>
      </p:sp>
      <p:sp>
        <p:nvSpPr>
          <p:cNvPr id="7" name="矩形 24"/>
          <p:cNvSpPr>
            <a:spLocks noChangeArrowheads="1"/>
          </p:cNvSpPr>
          <p:nvPr/>
        </p:nvSpPr>
        <p:spPr bwMode="auto">
          <a:xfrm>
            <a:off x="871540" y="2953907"/>
            <a:ext cx="5165832"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defTabSz="1219200" eaLnBrk="1" hangingPunct="1">
              <a:lnSpc>
                <a:spcPct val="150000"/>
              </a:lnSpc>
            </a:pPr>
            <a:r>
              <a:rPr sz="2000" dirty="0">
                <a:latin typeface="微软雅黑" panose="020B0503020204020204" pitchFamily="34" charset="-122"/>
                <a:ea typeface="微软雅黑" panose="020B0503020204020204" pitchFamily="34" charset="-122"/>
              </a:rPr>
              <a:t>《论持久战》在世界军事理论中的地位举足轻重，对于非对称战争的发展，乃至后来的反恐战略都产生了重大影响。同时，持久战的核心思想——磨打敌人，以弱胜强的战略思想，也为许多弱小国家在与强大国家的战争中寻求战略优势提供了理论支持。</a:t>
            </a:r>
            <a:endParaRPr sz="20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4471127" y="3071519"/>
            <a:ext cx="7720146" cy="3844840"/>
          </a:xfrm>
          <a:prstGeom prst="rect">
            <a:avLst/>
          </a:prstGeom>
        </p:spPr>
      </p:pic>
      <p:sp>
        <p:nvSpPr>
          <p:cNvPr id="2" name="文本框 1"/>
          <p:cNvSpPr txBox="1"/>
          <p:nvPr/>
        </p:nvSpPr>
        <p:spPr>
          <a:xfrm>
            <a:off x="576580" y="1656080"/>
            <a:ext cx="5953760" cy="1131570"/>
          </a:xfrm>
          <a:prstGeom prst="rect">
            <a:avLst/>
          </a:prstGeom>
          <a:noFill/>
        </p:spPr>
        <p:txBody>
          <a:bodyPr wrap="square" rtlCol="0">
            <a:noAutofit/>
            <a:scene3d>
              <a:camera prst="orthographicFront"/>
              <a:lightRig rig="threePt" dir="t"/>
            </a:scene3d>
          </a:bodyPr>
          <a:p>
            <a:r>
              <a:rPr lang="zh-CN" altLang="en-US" sz="3600">
                <a:ln/>
                <a:solidFill>
                  <a:schemeClr val="accent1"/>
                </a:solidFill>
                <a:effectLst>
                  <a:outerShdw blurRad="38100" dist="25400" dir="5400000" algn="ctr" rotWithShape="0">
                    <a:srgbClr val="6E747A">
                      <a:alpha val="43000"/>
                    </a:srgbClr>
                  </a:outerShdw>
                </a:effectLst>
              </a:rPr>
              <a:t>在全世界范围产生巨大影响</a:t>
            </a:r>
            <a:endParaRPr lang="zh-CN" altLang="en-US" sz="3600">
              <a:ln/>
              <a:solidFill>
                <a:schemeClr val="accent1"/>
              </a:solidFill>
              <a:effectLst>
                <a:outerShdw blurRad="38100" dist="25400" dir="5400000" algn="ctr" rotWithShape="0">
                  <a:srgbClr val="6E747A">
                    <a:alpha val="43000"/>
                  </a:srgbClr>
                </a:outerShdw>
              </a:effectLs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4.3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1500"/>
                            </p:stCondLst>
                            <p:childTnLst>
                              <p:par>
                                <p:cTn id="38" presetID="21" presetClass="entr" presetSubtype="1"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heel(1)">
                                      <p:cBhvr>
                                        <p:cTn id="40" dur="1000"/>
                                        <p:tgtEl>
                                          <p:spTgt spid="6"/>
                                        </p:tgtEl>
                                      </p:cBhvr>
                                    </p:animEffect>
                                  </p:childTnLst>
                                </p:cTn>
                              </p:par>
                            </p:childTnLst>
                          </p:cTn>
                        </p:par>
                        <p:par>
                          <p:cTn id="41" fill="hold">
                            <p:stCondLst>
                              <p:cond delay="2500"/>
                            </p:stCondLst>
                            <p:childTnLst>
                              <p:par>
                                <p:cTn id="42" presetID="12" presetClass="entr" presetSubtype="1"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p:tgtEl>
                                          <p:spTgt spid="7"/>
                                        </p:tgtEl>
                                        <p:attrNameLst>
                                          <p:attrName>ppt_y</p:attrName>
                                        </p:attrNameLst>
                                      </p:cBhvr>
                                      <p:tavLst>
                                        <p:tav tm="0">
                                          <p:val>
                                            <p:strVal val="#ppt_y-#ppt_h*1.125000"/>
                                          </p:val>
                                        </p:tav>
                                        <p:tav tm="100000">
                                          <p:val>
                                            <p:strVal val="#ppt_y"/>
                                          </p:val>
                                        </p:tav>
                                      </p:tavLst>
                                    </p:anim>
                                    <p:animEffect transition="in" filter="wipe(down)">
                                      <p:cBhvr>
                                        <p:cTn id="45" dur="500"/>
                                        <p:tgtEl>
                                          <p:spTgt spid="7"/>
                                        </p:tgtEl>
                                      </p:cBhvr>
                                    </p:animEffect>
                                  </p:childTnLst>
                                </p:cTn>
                              </p:par>
                            </p:childTnLst>
                          </p:cTn>
                        </p:par>
                        <p:par>
                          <p:cTn id="46" fill="hold">
                            <p:stCondLst>
                              <p:cond delay="3000"/>
                            </p:stCondLst>
                            <p:childTnLst>
                              <p:par>
                                <p:cTn id="47" presetID="22" presetClass="entr" presetSubtype="4" fill="hold" nodeType="after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down)">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animBg="1"/>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cstate="screen"/>
          <a:stretch>
            <a:fillRect/>
          </a:stretch>
        </p:blipFill>
        <p:spPr>
          <a:xfrm>
            <a:off x="8088923" y="246423"/>
            <a:ext cx="4103077" cy="675011"/>
          </a:xfrm>
          <a:prstGeom prst="rect">
            <a:avLst/>
          </a:prstGeom>
        </p:spPr>
      </p:pic>
      <p:cxnSp>
        <p:nvCxnSpPr>
          <p:cNvPr id="26" name="直接连接符 25"/>
          <p:cNvCxnSpPr/>
          <p:nvPr/>
        </p:nvCxnSpPr>
        <p:spPr>
          <a:xfrm>
            <a:off x="0" y="92143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060286" y="353095"/>
            <a:ext cx="7204657" cy="460375"/>
          </a:xfrm>
          <a:prstGeom prst="rect">
            <a:avLst/>
          </a:prstGeom>
        </p:spPr>
        <p:txBody>
          <a:bodyPr wrap="square">
            <a:spAutoFit/>
          </a:bodyPr>
          <a:lstStyle/>
          <a:p>
            <a:r>
              <a:rPr lang="zh-CN" altLang="en-US" sz="2400" b="1" dirty="0">
                <a:solidFill>
                  <a:schemeClr val="accent1"/>
                </a:solidFill>
                <a:latin typeface="字体视界-NEW魏碑体" panose="02010601030101010101" pitchFamily="2" charset="-122"/>
                <a:ea typeface="字体视界-NEW魏碑体" panose="02010601030101010101" pitchFamily="2" charset="-122"/>
                <a:cs typeface="+mn-ea"/>
                <a:sym typeface="+mn-lt"/>
              </a:rPr>
              <a:t>第四部分：</a:t>
            </a:r>
            <a:r>
              <a:rPr lang="zh-CN" altLang="en-US" sz="2400" b="1" dirty="0">
                <a:solidFill>
                  <a:srgbClr val="C00000"/>
                </a:solidFill>
                <a:latin typeface="字体视界-NEW魏碑体" panose="02010601030101010101" pitchFamily="2" charset="-122"/>
                <a:ea typeface="字体视界-NEW魏碑体" panose="02010601030101010101" pitchFamily="2" charset="-122"/>
                <a:sym typeface="+mn-ea"/>
              </a:rPr>
              <a:t>《论持久战》的现代意义</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28" name="Freeform 29"/>
          <p:cNvSpPr/>
          <p:nvPr/>
        </p:nvSpPr>
        <p:spPr bwMode="auto">
          <a:xfrm>
            <a:off x="288468" y="125065"/>
            <a:ext cx="771819" cy="689695"/>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chemeClr val="accent1"/>
          </a:solidFill>
          <a:ln>
            <a:noFill/>
          </a:ln>
        </p:spPr>
        <p:txBody>
          <a:bodyPr vert="horz" wrap="square" lIns="91440" tIns="45720" rIns="91440" bIns="45720" numCol="1" anchor="t" anchorCtr="0" compatLnSpc="1"/>
          <a:lstStyle/>
          <a:p>
            <a:endParaRPr lang="zh-CN" altLang="en-US">
              <a:cs typeface="+mn-ea"/>
              <a:sym typeface="+mn-lt"/>
            </a:endParaRPr>
          </a:p>
        </p:txBody>
      </p:sp>
      <p:sp>
        <p:nvSpPr>
          <p:cNvPr id="6" name="Freeform 14"/>
          <p:cNvSpPr/>
          <p:nvPr/>
        </p:nvSpPr>
        <p:spPr bwMode="auto">
          <a:xfrm>
            <a:off x="1182034" y="2004452"/>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lstStyle/>
          <a:p>
            <a:endParaRPr lang="zh-CN" altLang="en-US">
              <a:solidFill>
                <a:schemeClr val="bg2"/>
              </a:solidFill>
            </a:endParaRPr>
          </a:p>
        </p:txBody>
      </p:sp>
      <p:sp>
        <p:nvSpPr>
          <p:cNvPr id="7" name="TextBox 11"/>
          <p:cNvSpPr txBox="1"/>
          <p:nvPr/>
        </p:nvSpPr>
        <p:spPr>
          <a:xfrm>
            <a:off x="1478739" y="2158943"/>
            <a:ext cx="490220" cy="829945"/>
          </a:xfrm>
          <a:prstGeom prst="rect">
            <a:avLst/>
          </a:prstGeom>
          <a:noFill/>
        </p:spPr>
        <p:txBody>
          <a:bodyPr wrap="none" rtlCol="0">
            <a:spAutoFit/>
          </a:bodyPr>
          <a:lstStyle/>
          <a:p>
            <a:r>
              <a:rPr lang="en-US" altLang="zh-CN" sz="4800" b="1" dirty="0">
                <a:solidFill>
                  <a:schemeClr val="bg2"/>
                </a:solidFill>
                <a:latin typeface="+mj-ea"/>
                <a:ea typeface="+mj-ea"/>
              </a:rPr>
              <a:t>1</a:t>
            </a:r>
            <a:endParaRPr lang="zh-CN" altLang="en-US" sz="4800" b="1" dirty="0">
              <a:solidFill>
                <a:schemeClr val="bg2"/>
              </a:solidFill>
              <a:latin typeface="+mj-ea"/>
              <a:ea typeface="+mj-ea"/>
            </a:endParaRPr>
          </a:p>
        </p:txBody>
      </p:sp>
      <p:sp>
        <p:nvSpPr>
          <p:cNvPr id="8" name="TextBox 12"/>
          <p:cNvSpPr txBox="1"/>
          <p:nvPr/>
        </p:nvSpPr>
        <p:spPr>
          <a:xfrm>
            <a:off x="2390140" y="1752600"/>
            <a:ext cx="8053070" cy="460375"/>
          </a:xfrm>
          <a:prstGeom prst="rect">
            <a:avLst/>
          </a:prstGeom>
          <a:noFill/>
        </p:spPr>
        <p:txBody>
          <a:bodyPr wrap="square" rtlCol="0">
            <a:spAutoFit/>
          </a:bodyPr>
          <a:lstStyle/>
          <a:p>
            <a:r>
              <a:rPr lang="zh-CN" altLang="en-US" sz="2400" b="1" dirty="0">
                <a:solidFill>
                  <a:srgbClr val="C00000"/>
                </a:solidFill>
                <a:latin typeface="字体视界-NEW魏碑体" panose="02010601030101010101" pitchFamily="2" charset="-122"/>
                <a:ea typeface="字体视界-NEW魏碑体" panose="02010601030101010101" pitchFamily="2" charset="-122"/>
              </a:rPr>
              <a:t>满腹经纶的哲人不觉其浅，粗通文墨的学子不觉其深。</a:t>
            </a:r>
            <a:endParaRPr lang="zh-CN" altLang="en-US" sz="2400" b="1" dirty="0">
              <a:solidFill>
                <a:srgbClr val="C00000"/>
              </a:solidFill>
              <a:latin typeface="字体视界-NEW魏碑体" panose="02010601030101010101" pitchFamily="2" charset="-122"/>
              <a:ea typeface="字体视界-NEW魏碑体" panose="02010601030101010101" pitchFamily="2" charset="-122"/>
            </a:endParaRPr>
          </a:p>
        </p:txBody>
      </p:sp>
      <p:sp>
        <p:nvSpPr>
          <p:cNvPr id="9" name="TextBox 13"/>
          <p:cNvSpPr txBox="1"/>
          <p:nvPr/>
        </p:nvSpPr>
        <p:spPr>
          <a:xfrm>
            <a:off x="2389853" y="2159247"/>
            <a:ext cx="8576597" cy="1283970"/>
          </a:xfrm>
          <a:prstGeom prst="rect">
            <a:avLst/>
          </a:prstGeom>
          <a:noFill/>
        </p:spPr>
        <p:txBody>
          <a:bodyPr wrap="square" rtlCol="0">
            <a:spAutoFit/>
          </a:bodyPr>
          <a:lstStyle>
            <a:defPPr>
              <a:defRPr lang="zh-CN"/>
            </a:defPPr>
            <a:lvl1pPr>
              <a:defRPr>
                <a:solidFill>
                  <a:schemeClr val="bg1"/>
                </a:solidFill>
                <a:latin typeface="+mn-ea"/>
                <a:ea typeface="+mn-ea"/>
              </a:defRPr>
            </a:lvl1pPr>
          </a:lstStyle>
          <a:p>
            <a:pPr>
              <a:lnSpc>
                <a:spcPts val="3100"/>
              </a:lnSpc>
              <a:defRPr/>
            </a:pPr>
            <a:r>
              <a:rPr lang="zh-CN" altLang="en-US" dirty="0">
                <a:solidFill>
                  <a:schemeClr val="tx1"/>
                </a:solidFill>
                <a:latin typeface="微软雅黑" panose="020B0503020204020204" pitchFamily="34" charset="-122"/>
                <a:ea typeface="微软雅黑" panose="020B0503020204020204" pitchFamily="34" charset="-122"/>
                <a:cs typeface="+mn-ea"/>
                <a:sym typeface="+mn-lt"/>
              </a:rPr>
              <a:t>我们大学生更是要深刻地思考论持久战在生活中的意义，去体会革命前辈留给我们的宝贵的精神财富，赋予它不一样的含义，只有这样，我们才能不负我们的使命，不断的成长与提高。</a:t>
            </a: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Freeform 14"/>
          <p:cNvSpPr/>
          <p:nvPr/>
        </p:nvSpPr>
        <p:spPr bwMode="auto">
          <a:xfrm>
            <a:off x="1182034" y="4081239"/>
            <a:ext cx="1157988" cy="1157232"/>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C00000"/>
          </a:solidFill>
          <a:ln>
            <a:solidFill>
              <a:srgbClr val="C00000"/>
            </a:solidFill>
          </a:ln>
        </p:spPr>
        <p:txBody>
          <a:bodyPr vert="horz" wrap="square" lIns="91440" tIns="45720" rIns="91440" bIns="45720" numCol="1" anchor="t" anchorCtr="0" compatLnSpc="1"/>
          <a:lstStyle/>
          <a:p>
            <a:endParaRPr lang="zh-CN" altLang="en-US">
              <a:solidFill>
                <a:schemeClr val="bg2"/>
              </a:solidFill>
            </a:endParaRPr>
          </a:p>
        </p:txBody>
      </p:sp>
      <p:sp>
        <p:nvSpPr>
          <p:cNvPr id="11" name="TextBox 15"/>
          <p:cNvSpPr txBox="1"/>
          <p:nvPr/>
        </p:nvSpPr>
        <p:spPr>
          <a:xfrm>
            <a:off x="1494074" y="4244356"/>
            <a:ext cx="533909" cy="829945"/>
          </a:xfrm>
          <a:prstGeom prst="rect">
            <a:avLst/>
          </a:prstGeom>
          <a:noFill/>
        </p:spPr>
        <p:txBody>
          <a:bodyPr wrap="square" rtlCol="0">
            <a:spAutoFit/>
          </a:bodyPr>
          <a:lstStyle/>
          <a:p>
            <a:r>
              <a:rPr lang="en-US" altLang="zh-CN" sz="4800" b="1" dirty="0">
                <a:solidFill>
                  <a:schemeClr val="bg2"/>
                </a:solidFill>
                <a:latin typeface="+mj-ea"/>
                <a:ea typeface="+mj-ea"/>
              </a:rPr>
              <a:t>2</a:t>
            </a:r>
            <a:endParaRPr lang="zh-CN" altLang="en-US" sz="4800" b="1" dirty="0">
              <a:solidFill>
                <a:schemeClr val="bg2"/>
              </a:solidFill>
              <a:latin typeface="+mj-ea"/>
              <a:ea typeface="+mj-ea"/>
            </a:endParaRPr>
          </a:p>
        </p:txBody>
      </p:sp>
      <p:sp>
        <p:nvSpPr>
          <p:cNvPr id="12" name="TextBox 17"/>
          <p:cNvSpPr txBox="1"/>
          <p:nvPr/>
        </p:nvSpPr>
        <p:spPr>
          <a:xfrm>
            <a:off x="2340022" y="3968505"/>
            <a:ext cx="8626428" cy="922020"/>
          </a:xfrm>
          <a:prstGeom prst="rect">
            <a:avLst/>
          </a:prstGeom>
          <a:noFill/>
        </p:spPr>
        <p:txBody>
          <a:bodyPr wrap="square" rtlCol="0">
            <a:spAutoFit/>
          </a:bodyPr>
          <a:lstStyle>
            <a:defPPr>
              <a:defRPr lang="zh-CN"/>
            </a:defPPr>
            <a:lvl1pPr>
              <a:defRPr>
                <a:solidFill>
                  <a:schemeClr val="bg1"/>
                </a:solidFill>
                <a:latin typeface="+mn-ea"/>
                <a:ea typeface="+mn-ea"/>
              </a:defRPr>
            </a:lvl1pPr>
          </a:lstStyle>
          <a:p>
            <a:pPr algn="just">
              <a:lnSpc>
                <a:spcPct val="150000"/>
              </a:lnSpc>
            </a:pPr>
            <a:r>
              <a:rPr lang="zh-CN" altLang="en-US" dirty="0">
                <a:solidFill>
                  <a:schemeClr val="tx1"/>
                </a:solidFill>
                <a:latin typeface="微软雅黑" panose="020B0503020204020204" pitchFamily="34" charset="-122"/>
                <a:ea typeface="微软雅黑" panose="020B0503020204020204" pitchFamily="34" charset="-122"/>
                <a:cs typeface="+mn-ea"/>
                <a:sym typeface="+mn-lt"/>
              </a:rPr>
              <a:t>把每个人的命运都系在自己的手里，只有你自己能够掌握你的人生走向，你才是你人生的根本所在。</a:t>
            </a:r>
            <a:endParaRPr lang="zh-CN" altLang="en-US" dirty="0">
              <a:solidFill>
                <a:schemeClr val="tx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1.8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1500"/>
                                </p:stCondLst>
                                <p:childTnLst>
                                  <p:par>
                                    <p:cTn id="38" presetID="2" presetClass="entr" presetSubtype="12" fill="hold" grpId="0" nodeType="afterEffect" p14:presetBounceEnd="20000">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14:bounceEnd="20000">
                                          <p:cBhvr additive="base">
                                            <p:cTn id="40" dur="500" fill="hold"/>
                                            <p:tgtEl>
                                              <p:spTgt spid="6"/>
                                            </p:tgtEl>
                                            <p:attrNameLst>
                                              <p:attrName>ppt_x</p:attrName>
                                            </p:attrNameLst>
                                          </p:cBhvr>
                                          <p:tavLst>
                                            <p:tav tm="0">
                                              <p:val>
                                                <p:strVal val="0-#ppt_w/2"/>
                                              </p:val>
                                            </p:tav>
                                            <p:tav tm="100000">
                                              <p:val>
                                                <p:strVal val="#ppt_x"/>
                                              </p:val>
                                            </p:tav>
                                          </p:tavLst>
                                        </p:anim>
                                        <p:anim calcmode="lin" valueType="num" p14:bounceEnd="20000">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par>
                              <p:cTn id="42" fill="hold">
                                <p:stCondLst>
                                  <p:cond delay="2000"/>
                                </p:stCondLst>
                                <p:childTnLst>
                                  <p:par>
                                    <p:cTn id="43" presetID="31"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 calcmode="lin" valueType="num">
                                          <p:cBhvr>
                                            <p:cTn id="47" dur="500" fill="hold"/>
                                            <p:tgtEl>
                                              <p:spTgt spid="7"/>
                                            </p:tgtEl>
                                            <p:attrNameLst>
                                              <p:attrName>style.rotation</p:attrName>
                                            </p:attrNameLst>
                                          </p:cBhvr>
                                          <p:tavLst>
                                            <p:tav tm="0">
                                              <p:val>
                                                <p:fltVal val="90"/>
                                              </p:val>
                                            </p:tav>
                                            <p:tav tm="100000">
                                              <p:val>
                                                <p:fltVal val="0"/>
                                              </p:val>
                                            </p:tav>
                                          </p:tavLst>
                                        </p:anim>
                                        <p:animEffect transition="in" filter="fade">
                                          <p:cBhvr>
                                            <p:cTn id="48" dur="500"/>
                                            <p:tgtEl>
                                              <p:spTgt spid="7"/>
                                            </p:tgtEl>
                                          </p:cBhvr>
                                        </p:animEffect>
                                      </p:childTnLst>
                                    </p:cTn>
                                  </p:par>
                                </p:childTnLst>
                              </p:cTn>
                            </p:par>
                            <p:par>
                              <p:cTn id="49" fill="hold">
                                <p:stCondLst>
                                  <p:cond delay="2500"/>
                                </p:stCondLst>
                                <p:childTnLst>
                                  <p:par>
                                    <p:cTn id="50" presetID="31" presetClass="entr" presetSubtype="0"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500" fill="hold"/>
                                            <p:tgtEl>
                                              <p:spTgt spid="8"/>
                                            </p:tgtEl>
                                            <p:attrNameLst>
                                              <p:attrName>ppt_w</p:attrName>
                                            </p:attrNameLst>
                                          </p:cBhvr>
                                          <p:tavLst>
                                            <p:tav tm="0">
                                              <p:val>
                                                <p:fltVal val="0"/>
                                              </p:val>
                                            </p:tav>
                                            <p:tav tm="100000">
                                              <p:val>
                                                <p:strVal val="#ppt_w"/>
                                              </p:val>
                                            </p:tav>
                                          </p:tavLst>
                                        </p:anim>
                                        <p:anim calcmode="lin" valueType="num">
                                          <p:cBhvr>
                                            <p:cTn id="53" dur="500" fill="hold"/>
                                            <p:tgtEl>
                                              <p:spTgt spid="8"/>
                                            </p:tgtEl>
                                            <p:attrNameLst>
                                              <p:attrName>ppt_h</p:attrName>
                                            </p:attrNameLst>
                                          </p:cBhvr>
                                          <p:tavLst>
                                            <p:tav tm="0">
                                              <p:val>
                                                <p:fltVal val="0"/>
                                              </p:val>
                                            </p:tav>
                                            <p:tav tm="100000">
                                              <p:val>
                                                <p:strVal val="#ppt_h"/>
                                              </p:val>
                                            </p:tav>
                                          </p:tavLst>
                                        </p:anim>
                                        <p:anim calcmode="lin" valueType="num">
                                          <p:cBhvr>
                                            <p:cTn id="54" dur="500" fill="hold"/>
                                            <p:tgtEl>
                                              <p:spTgt spid="8"/>
                                            </p:tgtEl>
                                            <p:attrNameLst>
                                              <p:attrName>style.rotation</p:attrName>
                                            </p:attrNameLst>
                                          </p:cBhvr>
                                          <p:tavLst>
                                            <p:tav tm="0">
                                              <p:val>
                                                <p:fltVal val="90"/>
                                              </p:val>
                                            </p:tav>
                                            <p:tav tm="100000">
                                              <p:val>
                                                <p:fltVal val="0"/>
                                              </p:val>
                                            </p:tav>
                                          </p:tavLst>
                                        </p:anim>
                                        <p:animEffect transition="in" filter="fade">
                                          <p:cBhvr>
                                            <p:cTn id="55" dur="500"/>
                                            <p:tgtEl>
                                              <p:spTgt spid="8"/>
                                            </p:tgtEl>
                                          </p:cBhvr>
                                        </p:animEffect>
                                      </p:childTnLst>
                                    </p:cTn>
                                  </p:par>
                                </p:childTnLst>
                              </p:cTn>
                            </p:par>
                            <p:par>
                              <p:cTn id="56" fill="hold">
                                <p:stCondLst>
                                  <p:cond delay="3000"/>
                                </p:stCondLst>
                                <p:childTnLst>
                                  <p:par>
                                    <p:cTn id="57" presetID="22" presetClass="entr" presetSubtype="1"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up)">
                                          <p:cBhvr>
                                            <p:cTn id="59" dur="500"/>
                                            <p:tgtEl>
                                              <p:spTgt spid="9"/>
                                            </p:tgtEl>
                                          </p:cBhvr>
                                        </p:animEffect>
                                      </p:childTnLst>
                                    </p:cTn>
                                  </p:par>
                                </p:childTnLst>
                              </p:cTn>
                            </p:par>
                            <p:par>
                              <p:cTn id="60" fill="hold">
                                <p:stCondLst>
                                  <p:cond delay="3500"/>
                                </p:stCondLst>
                                <p:childTnLst>
                                  <p:par>
                                    <p:cTn id="61" presetID="2" presetClass="entr" presetSubtype="12" fill="hold" grpId="0" nodeType="afterEffect" p14:presetBounceEnd="20000">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14:bounceEnd="20000">
                                          <p:cBhvr additive="base">
                                            <p:cTn id="63" dur="500" fill="hold"/>
                                            <p:tgtEl>
                                              <p:spTgt spid="10"/>
                                            </p:tgtEl>
                                            <p:attrNameLst>
                                              <p:attrName>ppt_x</p:attrName>
                                            </p:attrNameLst>
                                          </p:cBhvr>
                                          <p:tavLst>
                                            <p:tav tm="0">
                                              <p:val>
                                                <p:strVal val="0-#ppt_w/2"/>
                                              </p:val>
                                            </p:tav>
                                            <p:tav tm="100000">
                                              <p:val>
                                                <p:strVal val="#ppt_x"/>
                                              </p:val>
                                            </p:tav>
                                          </p:tavLst>
                                        </p:anim>
                                        <p:anim calcmode="lin" valueType="num" p14:bounceEnd="20000">
                                          <p:cBhvr additive="base">
                                            <p:cTn id="64" dur="500" fill="hold"/>
                                            <p:tgtEl>
                                              <p:spTgt spid="10"/>
                                            </p:tgtEl>
                                            <p:attrNameLst>
                                              <p:attrName>ppt_y</p:attrName>
                                            </p:attrNameLst>
                                          </p:cBhvr>
                                          <p:tavLst>
                                            <p:tav tm="0">
                                              <p:val>
                                                <p:strVal val="1+#ppt_h/2"/>
                                              </p:val>
                                            </p:tav>
                                            <p:tav tm="100000">
                                              <p:val>
                                                <p:strVal val="#ppt_y"/>
                                              </p:val>
                                            </p:tav>
                                          </p:tavLst>
                                        </p:anim>
                                      </p:childTnLst>
                                    </p:cTn>
                                  </p:par>
                                </p:childTnLst>
                              </p:cTn>
                            </p:par>
                            <p:par>
                              <p:cTn id="65" fill="hold">
                                <p:stCondLst>
                                  <p:cond delay="4000"/>
                                </p:stCondLst>
                                <p:childTnLst>
                                  <p:par>
                                    <p:cTn id="66" presetID="31" presetClass="entr" presetSubtype="0" fill="hold" grpId="0" nodeType="afterEffect">
                                      <p:stCondLst>
                                        <p:cond delay="0"/>
                                      </p:stCondLst>
                                      <p:childTnLst>
                                        <p:set>
                                          <p:cBhvr>
                                            <p:cTn id="67" dur="1" fill="hold">
                                              <p:stCondLst>
                                                <p:cond delay="0"/>
                                              </p:stCondLst>
                                            </p:cTn>
                                            <p:tgtEl>
                                              <p:spTgt spid="11"/>
                                            </p:tgtEl>
                                            <p:attrNameLst>
                                              <p:attrName>style.visibility</p:attrName>
                                            </p:attrNameLst>
                                          </p:cBhvr>
                                          <p:to>
                                            <p:strVal val="visible"/>
                                          </p:to>
                                        </p:set>
                                        <p:anim calcmode="lin" valueType="num">
                                          <p:cBhvr>
                                            <p:cTn id="68" dur="500" fill="hold"/>
                                            <p:tgtEl>
                                              <p:spTgt spid="11"/>
                                            </p:tgtEl>
                                            <p:attrNameLst>
                                              <p:attrName>ppt_w</p:attrName>
                                            </p:attrNameLst>
                                          </p:cBhvr>
                                          <p:tavLst>
                                            <p:tav tm="0">
                                              <p:val>
                                                <p:fltVal val="0"/>
                                              </p:val>
                                            </p:tav>
                                            <p:tav tm="100000">
                                              <p:val>
                                                <p:strVal val="#ppt_w"/>
                                              </p:val>
                                            </p:tav>
                                          </p:tavLst>
                                        </p:anim>
                                        <p:anim calcmode="lin" valueType="num">
                                          <p:cBhvr>
                                            <p:cTn id="69" dur="500" fill="hold"/>
                                            <p:tgtEl>
                                              <p:spTgt spid="11"/>
                                            </p:tgtEl>
                                            <p:attrNameLst>
                                              <p:attrName>ppt_h</p:attrName>
                                            </p:attrNameLst>
                                          </p:cBhvr>
                                          <p:tavLst>
                                            <p:tav tm="0">
                                              <p:val>
                                                <p:fltVal val="0"/>
                                              </p:val>
                                            </p:tav>
                                            <p:tav tm="100000">
                                              <p:val>
                                                <p:strVal val="#ppt_h"/>
                                              </p:val>
                                            </p:tav>
                                          </p:tavLst>
                                        </p:anim>
                                        <p:anim calcmode="lin" valueType="num">
                                          <p:cBhvr>
                                            <p:cTn id="70" dur="500" fill="hold"/>
                                            <p:tgtEl>
                                              <p:spTgt spid="11"/>
                                            </p:tgtEl>
                                            <p:attrNameLst>
                                              <p:attrName>style.rotation</p:attrName>
                                            </p:attrNameLst>
                                          </p:cBhvr>
                                          <p:tavLst>
                                            <p:tav tm="0">
                                              <p:val>
                                                <p:fltVal val="90"/>
                                              </p:val>
                                            </p:tav>
                                            <p:tav tm="100000">
                                              <p:val>
                                                <p:fltVal val="0"/>
                                              </p:val>
                                            </p:tav>
                                          </p:tavLst>
                                        </p:anim>
                                        <p:animEffect transition="in" filter="fade">
                                          <p:cBhvr>
                                            <p:cTn id="71" dur="500"/>
                                            <p:tgtEl>
                                              <p:spTgt spid="11"/>
                                            </p:tgtEl>
                                          </p:cBhvr>
                                        </p:animEffect>
                                      </p:childTnLst>
                                    </p:cTn>
                                  </p:par>
                                </p:childTnLst>
                              </p:cTn>
                            </p:par>
                            <p:par>
                              <p:cTn id="72" fill="hold">
                                <p:stCondLst>
                                  <p:cond delay="4500"/>
                                </p:stCondLst>
                                <p:childTnLst>
                                  <p:par>
                                    <p:cTn id="73" presetID="22" presetClass="entr" presetSubtype="1"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up)">
                                          <p:cBhvr>
                                            <p:cTn id="7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bldLvl="0" animBg="1"/>
          <p:bldP spid="7" grpId="0"/>
          <p:bldP spid="8" grpId="0"/>
          <p:bldP spid="9" grpId="0"/>
          <p:bldP spid="10" grpId="0" animBg="1"/>
          <p:bldP spid="11" grpId="0"/>
          <p:bldP spid="12"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35" presetClass="path" presetSubtype="0" accel="50000" decel="50000" fill="hold" nodeType="withEffect">
                                      <p:stCondLst>
                                        <p:cond delay="0"/>
                                      </p:stCondLst>
                                      <p:childTnLst>
                                        <p:animMotion origin="layout" path="M -6.25E-7 -3.7037E-6 L 0.18997 -3.7037E-6 " pathEditMode="relative" rAng="0" ptsTypes="AA">
                                          <p:cBhvr>
                                            <p:cTn id="11" dur="1000" spd="-100000" fill="hold"/>
                                            <p:tgtEl>
                                              <p:spTgt spid="25"/>
                                            </p:tgtEl>
                                            <p:attrNameLst>
                                              <p:attrName>ppt_x</p:attrName>
                                              <p:attrName>ppt_y</p:attrName>
                                            </p:attrNameLst>
                                          </p:cBhvr>
                                          <p:rCtr x="9492" y="0"/>
                                        </p:animMotion>
                                      </p:childTnLst>
                                    </p:cTn>
                                  </p:par>
                                  <p:par>
                                    <p:cTn id="12" presetID="53" presetClass="entr" presetSubtype="16"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par>
                                    <p:cTn id="17" presetID="35" presetClass="path" presetSubtype="0" accel="50000" decel="50000" fill="hold" nodeType="withEffect">
                                      <p:stCondLst>
                                        <p:cond delay="0"/>
                                      </p:stCondLst>
                                      <p:childTnLst>
                                        <p:animMotion origin="layout" path="M 0 -3.7037E-6 L -0.41185 -3.7037E-6 " pathEditMode="relative" rAng="0" ptsTypes="AA">
                                          <p:cBhvr>
                                            <p:cTn id="18" dur="1000" spd="-100000" fill="hold"/>
                                            <p:tgtEl>
                                              <p:spTgt spid="26"/>
                                            </p:tgtEl>
                                            <p:attrNameLst>
                                              <p:attrName>ppt_x</p:attrName>
                                              <p:attrName>ppt_y</p:attrName>
                                            </p:attrNameLst>
                                          </p:cBhvr>
                                          <p:rCtr x="-20599" y="0"/>
                                        </p:animMotion>
                                      </p:childTnLst>
                                    </p:cTn>
                                  </p:par>
                                </p:childTnLst>
                              </p:cTn>
                            </p:par>
                            <p:par>
                              <p:cTn id="19" fill="hold">
                                <p:stCondLst>
                                  <p:cond delay="500"/>
                                </p:stCondLst>
                                <p:childTnLst>
                                  <p:par>
                                    <p:cTn id="20" presetID="53" presetClass="entr" presetSubtype="16"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 calcmode="lin" valueType="num">
                                          <p:cBhvr>
                                            <p:cTn id="22" dur="250" fill="hold"/>
                                            <p:tgtEl>
                                              <p:spTgt spid="28"/>
                                            </p:tgtEl>
                                            <p:attrNameLst>
                                              <p:attrName>ppt_w</p:attrName>
                                            </p:attrNameLst>
                                          </p:cBhvr>
                                          <p:tavLst>
                                            <p:tav tm="0">
                                              <p:val>
                                                <p:fltVal val="0"/>
                                              </p:val>
                                            </p:tav>
                                            <p:tav tm="100000">
                                              <p:val>
                                                <p:strVal val="#ppt_w"/>
                                              </p:val>
                                            </p:tav>
                                          </p:tavLst>
                                        </p:anim>
                                        <p:anim calcmode="lin" valueType="num">
                                          <p:cBhvr>
                                            <p:cTn id="23" dur="250" fill="hold"/>
                                            <p:tgtEl>
                                              <p:spTgt spid="28"/>
                                            </p:tgtEl>
                                            <p:attrNameLst>
                                              <p:attrName>ppt_h</p:attrName>
                                            </p:attrNameLst>
                                          </p:cBhvr>
                                          <p:tavLst>
                                            <p:tav tm="0">
                                              <p:val>
                                                <p:fltVal val="0"/>
                                              </p:val>
                                            </p:tav>
                                            <p:tav tm="100000">
                                              <p:val>
                                                <p:strVal val="#ppt_h"/>
                                              </p:val>
                                            </p:tav>
                                          </p:tavLst>
                                        </p:anim>
                                        <p:animEffect transition="in" filter="fade">
                                          <p:cBhvr>
                                            <p:cTn id="24" dur="250"/>
                                            <p:tgtEl>
                                              <p:spTgt spid="28"/>
                                            </p:tgtEl>
                                          </p:cBhvr>
                                        </p:animEffect>
                                      </p:childTnLst>
                                    </p:cTn>
                                  </p:par>
                                  <p:par>
                                    <p:cTn id="25" presetID="6" presetClass="emph" presetSubtype="0" decel="100000" fill="hold" grpId="1" nodeType="withEffect">
                                      <p:stCondLst>
                                        <p:cond delay="200"/>
                                      </p:stCondLst>
                                      <p:childTnLst>
                                        <p:animScale>
                                          <p:cBhvr>
                                            <p:cTn id="26" dur="250" fill="hold"/>
                                            <p:tgtEl>
                                              <p:spTgt spid="28"/>
                                            </p:tgtEl>
                                          </p:cBhvr>
                                          <p:by x="120000" y="120000"/>
                                        </p:animScale>
                                      </p:childTnLst>
                                    </p:cTn>
                                  </p:par>
                                  <p:par>
                                    <p:cTn id="27" presetID="6" presetClass="emph" presetSubtype="0" decel="100000" fill="hold" grpId="2" nodeType="withEffect">
                                      <p:stCondLst>
                                        <p:cond delay="400"/>
                                      </p:stCondLst>
                                      <p:childTnLst>
                                        <p:animScale>
                                          <p:cBhvr>
                                            <p:cTn id="28" dur="250" fill="hold"/>
                                            <p:tgtEl>
                                              <p:spTgt spid="28"/>
                                            </p:tgtEl>
                                          </p:cBhvr>
                                          <p:by x="83000" y="83000"/>
                                        </p:animScale>
                                      </p:childTnLst>
                                    </p:cTn>
                                  </p:par>
                                </p:childTnLst>
                              </p:cTn>
                            </p:par>
                            <p:par>
                              <p:cTn id="29" fill="hold">
                                <p:stCondLst>
                                  <p:cond delay="10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par>
                                    <p:cTn id="35" presetID="35" presetClass="path" presetSubtype="0" accel="50000" decel="50000" fill="hold" grpId="1" nodeType="withEffect">
                                      <p:stCondLst>
                                        <p:cond delay="0"/>
                                      </p:stCondLst>
                                      <p:childTnLst>
                                        <p:animMotion origin="layout" path="M -1.875E-6 -3.7037E-6 L -0.30273 -3.7037E-6 " pathEditMode="relative" rAng="0" ptsTypes="AA">
                                          <p:cBhvr>
                                            <p:cTn id="36" dur="1000" spd="-100000" fill="hold"/>
                                            <p:tgtEl>
                                              <p:spTgt spid="27"/>
                                            </p:tgtEl>
                                            <p:attrNameLst>
                                              <p:attrName>ppt_x</p:attrName>
                                              <p:attrName>ppt_y</p:attrName>
                                            </p:attrNameLst>
                                          </p:cBhvr>
                                          <p:rCtr x="-15143" y="0"/>
                                        </p:animMotion>
                                      </p:childTnLst>
                                    </p:cTn>
                                  </p:par>
                                </p:childTnLst>
                              </p:cTn>
                            </p:par>
                            <p:par>
                              <p:cTn id="37" fill="hold">
                                <p:stCondLst>
                                  <p:cond delay="1500"/>
                                </p:stCondLst>
                                <p:childTnLst>
                                  <p:par>
                                    <p:cTn id="38" presetID="2" presetClass="entr" presetSubtype="12"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0-#ppt_w/2"/>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par>
                              <p:cTn id="42" fill="hold">
                                <p:stCondLst>
                                  <p:cond delay="2000"/>
                                </p:stCondLst>
                                <p:childTnLst>
                                  <p:par>
                                    <p:cTn id="43" presetID="31"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p:cTn id="45" dur="500" fill="hold"/>
                                            <p:tgtEl>
                                              <p:spTgt spid="7"/>
                                            </p:tgtEl>
                                            <p:attrNameLst>
                                              <p:attrName>ppt_w</p:attrName>
                                            </p:attrNameLst>
                                          </p:cBhvr>
                                          <p:tavLst>
                                            <p:tav tm="0">
                                              <p:val>
                                                <p:fltVal val="0"/>
                                              </p:val>
                                            </p:tav>
                                            <p:tav tm="100000">
                                              <p:val>
                                                <p:strVal val="#ppt_w"/>
                                              </p:val>
                                            </p:tav>
                                          </p:tavLst>
                                        </p:anim>
                                        <p:anim calcmode="lin" valueType="num">
                                          <p:cBhvr>
                                            <p:cTn id="46" dur="500" fill="hold"/>
                                            <p:tgtEl>
                                              <p:spTgt spid="7"/>
                                            </p:tgtEl>
                                            <p:attrNameLst>
                                              <p:attrName>ppt_h</p:attrName>
                                            </p:attrNameLst>
                                          </p:cBhvr>
                                          <p:tavLst>
                                            <p:tav tm="0">
                                              <p:val>
                                                <p:fltVal val="0"/>
                                              </p:val>
                                            </p:tav>
                                            <p:tav tm="100000">
                                              <p:val>
                                                <p:strVal val="#ppt_h"/>
                                              </p:val>
                                            </p:tav>
                                          </p:tavLst>
                                        </p:anim>
                                        <p:anim calcmode="lin" valueType="num">
                                          <p:cBhvr>
                                            <p:cTn id="47" dur="500" fill="hold"/>
                                            <p:tgtEl>
                                              <p:spTgt spid="7"/>
                                            </p:tgtEl>
                                            <p:attrNameLst>
                                              <p:attrName>style.rotation</p:attrName>
                                            </p:attrNameLst>
                                          </p:cBhvr>
                                          <p:tavLst>
                                            <p:tav tm="0">
                                              <p:val>
                                                <p:fltVal val="90"/>
                                              </p:val>
                                            </p:tav>
                                            <p:tav tm="100000">
                                              <p:val>
                                                <p:fltVal val="0"/>
                                              </p:val>
                                            </p:tav>
                                          </p:tavLst>
                                        </p:anim>
                                        <p:animEffect transition="in" filter="fade">
                                          <p:cBhvr>
                                            <p:cTn id="48" dur="500"/>
                                            <p:tgtEl>
                                              <p:spTgt spid="7"/>
                                            </p:tgtEl>
                                          </p:cBhvr>
                                        </p:animEffect>
                                      </p:childTnLst>
                                    </p:cTn>
                                  </p:par>
                                </p:childTnLst>
                              </p:cTn>
                            </p:par>
                            <p:par>
                              <p:cTn id="49" fill="hold">
                                <p:stCondLst>
                                  <p:cond delay="2500"/>
                                </p:stCondLst>
                                <p:childTnLst>
                                  <p:par>
                                    <p:cTn id="50" presetID="31" presetClass="entr" presetSubtype="0"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500" fill="hold"/>
                                            <p:tgtEl>
                                              <p:spTgt spid="8"/>
                                            </p:tgtEl>
                                            <p:attrNameLst>
                                              <p:attrName>ppt_w</p:attrName>
                                            </p:attrNameLst>
                                          </p:cBhvr>
                                          <p:tavLst>
                                            <p:tav tm="0">
                                              <p:val>
                                                <p:fltVal val="0"/>
                                              </p:val>
                                            </p:tav>
                                            <p:tav tm="100000">
                                              <p:val>
                                                <p:strVal val="#ppt_w"/>
                                              </p:val>
                                            </p:tav>
                                          </p:tavLst>
                                        </p:anim>
                                        <p:anim calcmode="lin" valueType="num">
                                          <p:cBhvr>
                                            <p:cTn id="53" dur="500" fill="hold"/>
                                            <p:tgtEl>
                                              <p:spTgt spid="8"/>
                                            </p:tgtEl>
                                            <p:attrNameLst>
                                              <p:attrName>ppt_h</p:attrName>
                                            </p:attrNameLst>
                                          </p:cBhvr>
                                          <p:tavLst>
                                            <p:tav tm="0">
                                              <p:val>
                                                <p:fltVal val="0"/>
                                              </p:val>
                                            </p:tav>
                                            <p:tav tm="100000">
                                              <p:val>
                                                <p:strVal val="#ppt_h"/>
                                              </p:val>
                                            </p:tav>
                                          </p:tavLst>
                                        </p:anim>
                                        <p:anim calcmode="lin" valueType="num">
                                          <p:cBhvr>
                                            <p:cTn id="54" dur="500" fill="hold"/>
                                            <p:tgtEl>
                                              <p:spTgt spid="8"/>
                                            </p:tgtEl>
                                            <p:attrNameLst>
                                              <p:attrName>style.rotation</p:attrName>
                                            </p:attrNameLst>
                                          </p:cBhvr>
                                          <p:tavLst>
                                            <p:tav tm="0">
                                              <p:val>
                                                <p:fltVal val="90"/>
                                              </p:val>
                                            </p:tav>
                                            <p:tav tm="100000">
                                              <p:val>
                                                <p:fltVal val="0"/>
                                              </p:val>
                                            </p:tav>
                                          </p:tavLst>
                                        </p:anim>
                                        <p:animEffect transition="in" filter="fade">
                                          <p:cBhvr>
                                            <p:cTn id="55" dur="500"/>
                                            <p:tgtEl>
                                              <p:spTgt spid="8"/>
                                            </p:tgtEl>
                                          </p:cBhvr>
                                        </p:animEffect>
                                      </p:childTnLst>
                                    </p:cTn>
                                  </p:par>
                                </p:childTnLst>
                              </p:cTn>
                            </p:par>
                            <p:par>
                              <p:cTn id="56" fill="hold">
                                <p:stCondLst>
                                  <p:cond delay="3000"/>
                                </p:stCondLst>
                                <p:childTnLst>
                                  <p:par>
                                    <p:cTn id="57" presetID="22" presetClass="entr" presetSubtype="1"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up)">
                                          <p:cBhvr>
                                            <p:cTn id="59" dur="500"/>
                                            <p:tgtEl>
                                              <p:spTgt spid="9"/>
                                            </p:tgtEl>
                                          </p:cBhvr>
                                        </p:animEffect>
                                      </p:childTnLst>
                                    </p:cTn>
                                  </p:par>
                                </p:childTnLst>
                              </p:cTn>
                            </p:par>
                            <p:par>
                              <p:cTn id="60" fill="hold">
                                <p:stCondLst>
                                  <p:cond delay="3500"/>
                                </p:stCondLst>
                                <p:childTnLst>
                                  <p:par>
                                    <p:cTn id="61" presetID="2" presetClass="entr" presetSubtype="12" fill="hold" grpId="0" nodeType="afterEffect">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cBhvr additive="base">
                                            <p:cTn id="63" dur="500" fill="hold"/>
                                            <p:tgtEl>
                                              <p:spTgt spid="10"/>
                                            </p:tgtEl>
                                            <p:attrNameLst>
                                              <p:attrName>ppt_x</p:attrName>
                                            </p:attrNameLst>
                                          </p:cBhvr>
                                          <p:tavLst>
                                            <p:tav tm="0">
                                              <p:val>
                                                <p:strVal val="0-#ppt_w/2"/>
                                              </p:val>
                                            </p:tav>
                                            <p:tav tm="100000">
                                              <p:val>
                                                <p:strVal val="#ppt_x"/>
                                              </p:val>
                                            </p:tav>
                                          </p:tavLst>
                                        </p:anim>
                                        <p:anim calcmode="lin" valueType="num">
                                          <p:cBhvr additive="base">
                                            <p:cTn id="64" dur="500" fill="hold"/>
                                            <p:tgtEl>
                                              <p:spTgt spid="10"/>
                                            </p:tgtEl>
                                            <p:attrNameLst>
                                              <p:attrName>ppt_y</p:attrName>
                                            </p:attrNameLst>
                                          </p:cBhvr>
                                          <p:tavLst>
                                            <p:tav tm="0">
                                              <p:val>
                                                <p:strVal val="1+#ppt_h/2"/>
                                              </p:val>
                                            </p:tav>
                                            <p:tav tm="100000">
                                              <p:val>
                                                <p:strVal val="#ppt_y"/>
                                              </p:val>
                                            </p:tav>
                                          </p:tavLst>
                                        </p:anim>
                                      </p:childTnLst>
                                    </p:cTn>
                                  </p:par>
                                </p:childTnLst>
                              </p:cTn>
                            </p:par>
                            <p:par>
                              <p:cTn id="65" fill="hold">
                                <p:stCondLst>
                                  <p:cond delay="4000"/>
                                </p:stCondLst>
                                <p:childTnLst>
                                  <p:par>
                                    <p:cTn id="66" presetID="31" presetClass="entr" presetSubtype="0" fill="hold" grpId="0" nodeType="afterEffect">
                                      <p:stCondLst>
                                        <p:cond delay="0"/>
                                      </p:stCondLst>
                                      <p:childTnLst>
                                        <p:set>
                                          <p:cBhvr>
                                            <p:cTn id="67" dur="1" fill="hold">
                                              <p:stCondLst>
                                                <p:cond delay="0"/>
                                              </p:stCondLst>
                                            </p:cTn>
                                            <p:tgtEl>
                                              <p:spTgt spid="11"/>
                                            </p:tgtEl>
                                            <p:attrNameLst>
                                              <p:attrName>style.visibility</p:attrName>
                                            </p:attrNameLst>
                                          </p:cBhvr>
                                          <p:to>
                                            <p:strVal val="visible"/>
                                          </p:to>
                                        </p:set>
                                        <p:anim calcmode="lin" valueType="num">
                                          <p:cBhvr>
                                            <p:cTn id="68" dur="500" fill="hold"/>
                                            <p:tgtEl>
                                              <p:spTgt spid="11"/>
                                            </p:tgtEl>
                                            <p:attrNameLst>
                                              <p:attrName>ppt_w</p:attrName>
                                            </p:attrNameLst>
                                          </p:cBhvr>
                                          <p:tavLst>
                                            <p:tav tm="0">
                                              <p:val>
                                                <p:fltVal val="0"/>
                                              </p:val>
                                            </p:tav>
                                            <p:tav tm="100000">
                                              <p:val>
                                                <p:strVal val="#ppt_w"/>
                                              </p:val>
                                            </p:tav>
                                          </p:tavLst>
                                        </p:anim>
                                        <p:anim calcmode="lin" valueType="num">
                                          <p:cBhvr>
                                            <p:cTn id="69" dur="500" fill="hold"/>
                                            <p:tgtEl>
                                              <p:spTgt spid="11"/>
                                            </p:tgtEl>
                                            <p:attrNameLst>
                                              <p:attrName>ppt_h</p:attrName>
                                            </p:attrNameLst>
                                          </p:cBhvr>
                                          <p:tavLst>
                                            <p:tav tm="0">
                                              <p:val>
                                                <p:fltVal val="0"/>
                                              </p:val>
                                            </p:tav>
                                            <p:tav tm="100000">
                                              <p:val>
                                                <p:strVal val="#ppt_h"/>
                                              </p:val>
                                            </p:tav>
                                          </p:tavLst>
                                        </p:anim>
                                        <p:anim calcmode="lin" valueType="num">
                                          <p:cBhvr>
                                            <p:cTn id="70" dur="500" fill="hold"/>
                                            <p:tgtEl>
                                              <p:spTgt spid="11"/>
                                            </p:tgtEl>
                                            <p:attrNameLst>
                                              <p:attrName>style.rotation</p:attrName>
                                            </p:attrNameLst>
                                          </p:cBhvr>
                                          <p:tavLst>
                                            <p:tav tm="0">
                                              <p:val>
                                                <p:fltVal val="90"/>
                                              </p:val>
                                            </p:tav>
                                            <p:tav tm="100000">
                                              <p:val>
                                                <p:fltVal val="0"/>
                                              </p:val>
                                            </p:tav>
                                          </p:tavLst>
                                        </p:anim>
                                        <p:animEffect transition="in" filter="fade">
                                          <p:cBhvr>
                                            <p:cTn id="71" dur="500"/>
                                            <p:tgtEl>
                                              <p:spTgt spid="11"/>
                                            </p:tgtEl>
                                          </p:cBhvr>
                                        </p:animEffect>
                                      </p:childTnLst>
                                    </p:cTn>
                                  </p:par>
                                </p:childTnLst>
                              </p:cTn>
                            </p:par>
                            <p:par>
                              <p:cTn id="72" fill="hold">
                                <p:stCondLst>
                                  <p:cond delay="4500"/>
                                </p:stCondLst>
                                <p:childTnLst>
                                  <p:par>
                                    <p:cTn id="73" presetID="22" presetClass="entr" presetSubtype="1"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up)">
                                          <p:cBhvr>
                                            <p:cTn id="7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7" grpId="1"/>
          <p:bldP spid="28" grpId="0" animBg="1"/>
          <p:bldP spid="28" grpId="1" animBg="1"/>
          <p:bldP spid="28" grpId="2" animBg="1"/>
          <p:bldP spid="6" grpId="0" bldLvl="0" animBg="1"/>
          <p:bldP spid="7" grpId="0"/>
          <p:bldP spid="8" grpId="0"/>
          <p:bldP spid="9" grpId="0"/>
          <p:bldP spid="10" grpId="0" animBg="1"/>
          <p:bldP spid="11" grpId="0"/>
          <p:bldP spid="12" grpId="0"/>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cstate="screen"/>
          <a:stretch>
            <a:fillRect/>
          </a:stretch>
        </p:blipFill>
        <p:spPr>
          <a:xfrm>
            <a:off x="7003723" y="2745633"/>
            <a:ext cx="5184990" cy="4147992"/>
          </a:xfrm>
          <a:prstGeom prst="rect">
            <a:avLst/>
          </a:prstGeom>
        </p:spPr>
      </p:pic>
      <p:pic>
        <p:nvPicPr>
          <p:cNvPr id="35" name="图片 34"/>
          <p:cNvPicPr>
            <a:picLocks noChangeAspect="1"/>
          </p:cNvPicPr>
          <p:nvPr/>
        </p:nvPicPr>
        <p:blipFill>
          <a:blip r:embed="rId2" cstate="screen"/>
          <a:stretch>
            <a:fillRect/>
          </a:stretch>
        </p:blipFill>
        <p:spPr>
          <a:xfrm>
            <a:off x="0" y="4049960"/>
            <a:ext cx="4460240" cy="2788989"/>
          </a:xfrm>
          <a:prstGeom prst="rect">
            <a:avLst/>
          </a:prstGeom>
        </p:spPr>
      </p:pic>
      <p:sp>
        <p:nvSpPr>
          <p:cNvPr id="30" name="矩形 29"/>
          <p:cNvSpPr/>
          <p:nvPr/>
        </p:nvSpPr>
        <p:spPr>
          <a:xfrm>
            <a:off x="1333318" y="2190080"/>
            <a:ext cx="9525365" cy="1446550"/>
          </a:xfrm>
          <a:prstGeom prst="rect">
            <a:avLst/>
          </a:prstGeom>
        </p:spPr>
        <p:txBody>
          <a:bodyPr wrap="none">
            <a:spAutoFit/>
          </a:bodyPr>
          <a:lstStyle/>
          <a:p>
            <a:pPr algn="ctr"/>
            <a:r>
              <a:rPr lang="zh-CN" altLang="en-US" sz="8800" dirty="0">
                <a:solidFill>
                  <a:srgbClr val="C00000"/>
                </a:solidFill>
                <a:latin typeface="字体视界-NEW魏碑体" panose="02010601030101010101" pitchFamily="2" charset="-122"/>
                <a:ea typeface="字体视界-NEW魏碑体" panose="02010601030101010101" pitchFamily="2" charset="-122"/>
                <a:cs typeface="+mn-ea"/>
                <a:sym typeface="+mn-lt"/>
              </a:rPr>
              <a:t>不忘初心 继续前进</a:t>
            </a:r>
            <a:endParaRPr lang="zh-CN" altLang="en-US" sz="8800"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31" name="矩形 30"/>
          <p:cNvSpPr/>
          <p:nvPr/>
        </p:nvSpPr>
        <p:spPr>
          <a:xfrm>
            <a:off x="3605937" y="3853208"/>
            <a:ext cx="4907113" cy="584775"/>
          </a:xfrm>
          <a:prstGeom prst="rect">
            <a:avLst/>
          </a:prstGeom>
        </p:spPr>
        <p:txBody>
          <a:bodyPr wrap="none">
            <a:spAutoFit/>
          </a:bodyPr>
          <a:lstStyle/>
          <a:p>
            <a:pPr algn="ctr"/>
            <a:r>
              <a:rPr lang="en-US" altLang="zh-CN" sz="3200" dirty="0">
                <a:solidFill>
                  <a:srgbClr val="C00000"/>
                </a:solidFill>
                <a:latin typeface="字体视界-NEW魏碑体" panose="02010601030101010101" pitchFamily="2" charset="-122"/>
                <a:ea typeface="字体视界-NEW魏碑体" panose="02010601030101010101" pitchFamily="2" charset="-122"/>
                <a:cs typeface="+mn-ea"/>
                <a:sym typeface="+mn-lt"/>
              </a:rPr>
              <a:t>—— </a:t>
            </a:r>
            <a:r>
              <a:rPr lang="zh-CN" altLang="en-US" sz="3200" dirty="0">
                <a:solidFill>
                  <a:srgbClr val="C00000"/>
                </a:solidFill>
                <a:latin typeface="字体视界-NEW魏碑体" panose="02010601030101010101" pitchFamily="2" charset="-122"/>
                <a:ea typeface="字体视界-NEW魏碑体" panose="02010601030101010101" pitchFamily="2" charset="-122"/>
                <a:cs typeface="+mn-ea"/>
                <a:sym typeface="+mn-lt"/>
              </a:rPr>
              <a:t>感谢您的观看再见</a:t>
            </a:r>
            <a:r>
              <a:rPr lang="en-US" altLang="zh-CN" sz="3200" dirty="0">
                <a:solidFill>
                  <a:srgbClr val="C00000"/>
                </a:solidFill>
                <a:latin typeface="字体视界-NEW魏碑体" panose="02010601030101010101" pitchFamily="2" charset="-122"/>
                <a:ea typeface="字体视界-NEW魏碑体" panose="02010601030101010101" pitchFamily="2" charset="-122"/>
                <a:cs typeface="+mn-ea"/>
                <a:sym typeface="+mn-lt"/>
              </a:rPr>
              <a:t>——</a:t>
            </a:r>
            <a:endParaRPr lang="zh-CN" altLang="en-US" sz="3200"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sp>
        <p:nvSpPr>
          <p:cNvPr id="32" name="Freeform 29"/>
          <p:cNvSpPr/>
          <p:nvPr/>
        </p:nvSpPr>
        <p:spPr bwMode="auto">
          <a:xfrm>
            <a:off x="5221018" y="590692"/>
            <a:ext cx="1749965" cy="1563763"/>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pic>
        <p:nvPicPr>
          <p:cNvPr id="33" name="图片 32"/>
          <p:cNvPicPr>
            <a:picLocks noChangeAspect="1"/>
          </p:cNvPicPr>
          <p:nvPr/>
        </p:nvPicPr>
        <p:blipFill>
          <a:blip r:embed="rId3"/>
          <a:stretch>
            <a:fillRect/>
          </a:stretch>
        </p:blipFill>
        <p:spPr>
          <a:xfrm>
            <a:off x="8167468" y="552220"/>
            <a:ext cx="2857500" cy="1190625"/>
          </a:xfrm>
          <a:prstGeom prst="rect">
            <a:avLst/>
          </a:prstGeom>
        </p:spPr>
      </p:pic>
      <p:sp>
        <p:nvSpPr>
          <p:cNvPr id="38" name="矩形 37"/>
          <p:cNvSpPr/>
          <p:nvPr/>
        </p:nvSpPr>
        <p:spPr>
          <a:xfrm>
            <a:off x="3682048" y="4993536"/>
            <a:ext cx="4754880" cy="368300"/>
          </a:xfrm>
          <a:prstGeom prst="rect">
            <a:avLst/>
          </a:prstGeom>
        </p:spPr>
        <p:txBody>
          <a:bodyPr wrap="none">
            <a:spAutoFit/>
          </a:bodyPr>
          <a:lstStyle/>
          <a:p>
            <a:pPr algn="ct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汇报人</a:t>
            </a:r>
            <a:r>
              <a:rPr lang="en-US" altLang="zh-CN"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a:t>
            </a:r>
            <a:r>
              <a:rPr lang="zh-CN" altLang="en-US"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林芙巧</a:t>
            </a:r>
            <a:r>
              <a:rPr lang="en-US" altLang="zh-CN"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 </a:t>
            </a:r>
            <a:r>
              <a:rPr lang="zh-CN" altLang="en-US"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黄振凯      </a:t>
            </a:r>
            <a:r>
              <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rPr>
              <a:t>汇报时间</a:t>
            </a:r>
            <a:r>
              <a:rPr lang="zh-CN" altLang="en-US"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a:t>
            </a:r>
            <a:r>
              <a:rPr lang="en-US" altLang="zh-CN" dirty="0" smtClean="0">
                <a:solidFill>
                  <a:srgbClr val="C00000"/>
                </a:solidFill>
                <a:latin typeface="字体视界-NEW魏碑体" panose="02010601030101010101" pitchFamily="2" charset="-122"/>
                <a:ea typeface="字体视界-NEW魏碑体" panose="02010601030101010101" pitchFamily="2" charset="-122"/>
                <a:cs typeface="+mn-ea"/>
                <a:sym typeface="+mn-lt"/>
              </a:rPr>
              <a:t>2024</a:t>
            </a:r>
            <a:endParaRPr lang="zh-CN" altLang="en-US" dirty="0">
              <a:solidFill>
                <a:srgbClr val="C00000"/>
              </a:solidFill>
              <a:latin typeface="字体视界-NEW魏碑体" panose="02010601030101010101" pitchFamily="2" charset="-122"/>
              <a:ea typeface="字体视界-NEW魏碑体" panose="02010601030101010101" pitchFamily="2" charset="-122"/>
              <a:cs typeface="+mn-ea"/>
              <a:sym typeface="+mn-lt"/>
            </a:endParaRPr>
          </a:p>
        </p:txBody>
      </p:sp>
      <p:pic>
        <p:nvPicPr>
          <p:cNvPr id="40" name="图片 39"/>
          <p:cNvPicPr>
            <a:picLocks noChangeAspect="1"/>
          </p:cNvPicPr>
          <p:nvPr/>
        </p:nvPicPr>
        <p:blipFill>
          <a:blip r:embed="rId3"/>
          <a:stretch>
            <a:fillRect/>
          </a:stretch>
        </p:blipFill>
        <p:spPr>
          <a:xfrm rot="20902340" flipH="1">
            <a:off x="1320789" y="1151521"/>
            <a:ext cx="2100539" cy="8752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down)">
                                      <p:cBhvr>
                                        <p:cTn id="11" dur="500"/>
                                        <p:tgtEl>
                                          <p:spTgt spid="37"/>
                                        </p:tgtEl>
                                      </p:cBhvr>
                                    </p:animEffect>
                                  </p:childTnLst>
                                </p:cTn>
                              </p:par>
                            </p:childTnLst>
                          </p:cTn>
                        </p:par>
                        <p:par>
                          <p:cTn id="12" fill="hold">
                            <p:stCondLst>
                              <p:cond delay="1000"/>
                            </p:stCondLst>
                            <p:childTnLst>
                              <p:par>
                                <p:cTn id="13" presetID="23" presetClass="entr" presetSubtype="36"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1000" fill="hold"/>
                                        <p:tgtEl>
                                          <p:spTgt spid="32"/>
                                        </p:tgtEl>
                                        <p:attrNameLst>
                                          <p:attrName>ppt_w</p:attrName>
                                        </p:attrNameLst>
                                      </p:cBhvr>
                                      <p:tavLst>
                                        <p:tav tm="0">
                                          <p:val>
                                            <p:strVal val="(6*min(max(#ppt_w*#ppt_h,.3),1)-7.4)/-.7*#ppt_w"/>
                                          </p:val>
                                        </p:tav>
                                        <p:tav tm="100000">
                                          <p:val>
                                            <p:strVal val="#ppt_w"/>
                                          </p:val>
                                        </p:tav>
                                      </p:tavLst>
                                    </p:anim>
                                    <p:anim calcmode="lin" valueType="num">
                                      <p:cBhvr>
                                        <p:cTn id="16" dur="1000" fill="hold"/>
                                        <p:tgtEl>
                                          <p:spTgt spid="32"/>
                                        </p:tgtEl>
                                        <p:attrNameLst>
                                          <p:attrName>ppt_h</p:attrName>
                                        </p:attrNameLst>
                                      </p:cBhvr>
                                      <p:tavLst>
                                        <p:tav tm="0">
                                          <p:val>
                                            <p:strVal val="(6*min(max(#ppt_w*#ppt_h,.3),1)-7.4)/-.7*#ppt_h"/>
                                          </p:val>
                                        </p:tav>
                                        <p:tav tm="100000">
                                          <p:val>
                                            <p:strVal val="#ppt_h"/>
                                          </p:val>
                                        </p:tav>
                                      </p:tavLst>
                                    </p:anim>
                                    <p:anim calcmode="lin" valueType="num">
                                      <p:cBhvr>
                                        <p:cTn id="17" dur="1000" fill="hold"/>
                                        <p:tgtEl>
                                          <p:spTgt spid="32"/>
                                        </p:tgtEl>
                                        <p:attrNameLst>
                                          <p:attrName>ppt_x</p:attrName>
                                        </p:attrNameLst>
                                      </p:cBhvr>
                                      <p:tavLst>
                                        <p:tav tm="0">
                                          <p:val>
                                            <p:fltVal val="0.5"/>
                                          </p:val>
                                        </p:tav>
                                        <p:tav tm="100000">
                                          <p:val>
                                            <p:strVal val="#ppt_x"/>
                                          </p:val>
                                        </p:tav>
                                      </p:tavLst>
                                    </p:anim>
                                    <p:anim calcmode="lin" valueType="num">
                                      <p:cBhvr>
                                        <p:cTn id="18" dur="1000" fill="hold"/>
                                        <p:tgtEl>
                                          <p:spTgt spid="32"/>
                                        </p:tgtEl>
                                        <p:attrNameLst>
                                          <p:attrName>ppt_y</p:attrName>
                                        </p:attrNameLst>
                                      </p:cBhvr>
                                      <p:tavLst>
                                        <p:tav tm="0">
                                          <p:val>
                                            <p:strVal val="1+(6*min(max(#ppt_w*#ppt_h,.3),1)-7.4)/-.7*#ppt_h/2"/>
                                          </p:val>
                                        </p:tav>
                                        <p:tav tm="100000">
                                          <p:val>
                                            <p:strVal val="#ppt_y"/>
                                          </p:val>
                                        </p:tav>
                                      </p:tavLst>
                                    </p:anim>
                                  </p:childTnLst>
                                </p:cTn>
                              </p:par>
                            </p:childTnLst>
                          </p:cTn>
                        </p:par>
                        <p:par>
                          <p:cTn id="19" fill="hold">
                            <p:stCondLst>
                              <p:cond delay="2000"/>
                            </p:stCondLst>
                            <p:childTnLst>
                              <p:par>
                                <p:cTn id="20" presetID="53" presetClass="entr" presetSubtype="16" fill="hold" grpId="0" nodeType="after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1000" fill="hold"/>
                                        <p:tgtEl>
                                          <p:spTgt spid="30"/>
                                        </p:tgtEl>
                                        <p:attrNameLst>
                                          <p:attrName>ppt_w</p:attrName>
                                        </p:attrNameLst>
                                      </p:cBhvr>
                                      <p:tavLst>
                                        <p:tav tm="0">
                                          <p:val>
                                            <p:fltVal val="0"/>
                                          </p:val>
                                        </p:tav>
                                        <p:tav tm="100000">
                                          <p:val>
                                            <p:strVal val="#ppt_w"/>
                                          </p:val>
                                        </p:tav>
                                      </p:tavLst>
                                    </p:anim>
                                    <p:anim calcmode="lin" valueType="num">
                                      <p:cBhvr>
                                        <p:cTn id="23" dur="1000" fill="hold"/>
                                        <p:tgtEl>
                                          <p:spTgt spid="30"/>
                                        </p:tgtEl>
                                        <p:attrNameLst>
                                          <p:attrName>ppt_h</p:attrName>
                                        </p:attrNameLst>
                                      </p:cBhvr>
                                      <p:tavLst>
                                        <p:tav tm="0">
                                          <p:val>
                                            <p:fltVal val="0"/>
                                          </p:val>
                                        </p:tav>
                                        <p:tav tm="100000">
                                          <p:val>
                                            <p:strVal val="#ppt_h"/>
                                          </p:val>
                                        </p:tav>
                                      </p:tavLst>
                                    </p:anim>
                                    <p:animEffect transition="in" filter="fade">
                                      <p:cBhvr>
                                        <p:cTn id="24" dur="1000"/>
                                        <p:tgtEl>
                                          <p:spTgt spid="30"/>
                                        </p:tgtEl>
                                      </p:cBhvr>
                                    </p:animEffect>
                                  </p:childTnLst>
                                </p:cTn>
                              </p:par>
                              <p:par>
                                <p:cTn id="25" presetID="35" presetClass="path" presetSubtype="0" accel="50000" decel="50000" fill="hold" grpId="1" nodeType="withEffect">
                                  <p:stCondLst>
                                    <p:cond delay="0"/>
                                  </p:stCondLst>
                                  <p:childTnLst>
                                    <p:animMotion origin="layout" path="M 0 1.48148E-6 L -0.41185 1.48148E-6 " pathEditMode="relative" rAng="0" ptsTypes="AA">
                                      <p:cBhvr>
                                        <p:cTn id="26" dur="2000" spd="-100000" fill="hold"/>
                                        <p:tgtEl>
                                          <p:spTgt spid="30"/>
                                        </p:tgtEl>
                                        <p:attrNameLst>
                                          <p:attrName>ppt_x</p:attrName>
                                          <p:attrName>ppt_y</p:attrName>
                                        </p:attrNameLst>
                                      </p:cBhvr>
                                      <p:rCtr x="-20599" y="0"/>
                                    </p:animMotion>
                                  </p:childTnLst>
                                </p:cTn>
                              </p:par>
                              <p:par>
                                <p:cTn id="27" presetID="53" presetClass="entr" presetSubtype="16"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p:cTn id="29" dur="1000" fill="hold"/>
                                        <p:tgtEl>
                                          <p:spTgt spid="31"/>
                                        </p:tgtEl>
                                        <p:attrNameLst>
                                          <p:attrName>ppt_w</p:attrName>
                                        </p:attrNameLst>
                                      </p:cBhvr>
                                      <p:tavLst>
                                        <p:tav tm="0">
                                          <p:val>
                                            <p:fltVal val="0"/>
                                          </p:val>
                                        </p:tav>
                                        <p:tav tm="100000">
                                          <p:val>
                                            <p:strVal val="#ppt_w"/>
                                          </p:val>
                                        </p:tav>
                                      </p:tavLst>
                                    </p:anim>
                                    <p:anim calcmode="lin" valueType="num">
                                      <p:cBhvr>
                                        <p:cTn id="30" dur="1000" fill="hold"/>
                                        <p:tgtEl>
                                          <p:spTgt spid="31"/>
                                        </p:tgtEl>
                                        <p:attrNameLst>
                                          <p:attrName>ppt_h</p:attrName>
                                        </p:attrNameLst>
                                      </p:cBhvr>
                                      <p:tavLst>
                                        <p:tav tm="0">
                                          <p:val>
                                            <p:fltVal val="0"/>
                                          </p:val>
                                        </p:tav>
                                        <p:tav tm="100000">
                                          <p:val>
                                            <p:strVal val="#ppt_h"/>
                                          </p:val>
                                        </p:tav>
                                      </p:tavLst>
                                    </p:anim>
                                    <p:animEffect transition="in" filter="fade">
                                      <p:cBhvr>
                                        <p:cTn id="31" dur="1000"/>
                                        <p:tgtEl>
                                          <p:spTgt spid="31"/>
                                        </p:tgtEl>
                                      </p:cBhvr>
                                    </p:animEffect>
                                  </p:childTnLst>
                                </p:cTn>
                              </p:par>
                              <p:par>
                                <p:cTn id="32" presetID="35" presetClass="path" presetSubtype="0" accel="50000" decel="50000" fill="hold" grpId="1" nodeType="withEffect">
                                  <p:stCondLst>
                                    <p:cond delay="0"/>
                                  </p:stCondLst>
                                  <p:childTnLst>
                                    <p:animMotion origin="layout" path="M 4.79167E-6 1.85185E-6 L 0.31575 1.85185E-6 " pathEditMode="relative" rAng="0" ptsTypes="AA">
                                      <p:cBhvr>
                                        <p:cTn id="33" dur="2000" spd="-100000" fill="hold"/>
                                        <p:tgtEl>
                                          <p:spTgt spid="31"/>
                                        </p:tgtEl>
                                        <p:attrNameLst>
                                          <p:attrName>ppt_x</p:attrName>
                                          <p:attrName>ppt_y</p:attrName>
                                        </p:attrNameLst>
                                      </p:cBhvr>
                                      <p:rCtr x="15781" y="0"/>
                                    </p:animMotion>
                                  </p:childTnLst>
                                </p:cTn>
                              </p:par>
                            </p:childTnLst>
                          </p:cTn>
                        </p:par>
                        <p:par>
                          <p:cTn id="34" fill="hold">
                            <p:stCondLst>
                              <p:cond delay="3000"/>
                            </p:stCondLst>
                            <p:childTnLst>
                              <p:par>
                                <p:cTn id="35" presetID="53" presetClass="entr" presetSubtype="16"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p:cTn id="37" dur="1000" fill="hold"/>
                                        <p:tgtEl>
                                          <p:spTgt spid="33"/>
                                        </p:tgtEl>
                                        <p:attrNameLst>
                                          <p:attrName>ppt_w</p:attrName>
                                        </p:attrNameLst>
                                      </p:cBhvr>
                                      <p:tavLst>
                                        <p:tav tm="0">
                                          <p:val>
                                            <p:fltVal val="0"/>
                                          </p:val>
                                        </p:tav>
                                        <p:tav tm="100000">
                                          <p:val>
                                            <p:strVal val="#ppt_w"/>
                                          </p:val>
                                        </p:tav>
                                      </p:tavLst>
                                    </p:anim>
                                    <p:anim calcmode="lin" valueType="num">
                                      <p:cBhvr>
                                        <p:cTn id="38" dur="1000" fill="hold"/>
                                        <p:tgtEl>
                                          <p:spTgt spid="33"/>
                                        </p:tgtEl>
                                        <p:attrNameLst>
                                          <p:attrName>ppt_h</p:attrName>
                                        </p:attrNameLst>
                                      </p:cBhvr>
                                      <p:tavLst>
                                        <p:tav tm="0">
                                          <p:val>
                                            <p:fltVal val="0"/>
                                          </p:val>
                                        </p:tav>
                                        <p:tav tm="100000">
                                          <p:val>
                                            <p:strVal val="#ppt_h"/>
                                          </p:val>
                                        </p:tav>
                                      </p:tavLst>
                                    </p:anim>
                                    <p:animEffect transition="in" filter="fade">
                                      <p:cBhvr>
                                        <p:cTn id="39" dur="1000"/>
                                        <p:tgtEl>
                                          <p:spTgt spid="33"/>
                                        </p:tgtEl>
                                      </p:cBhvr>
                                    </p:animEffect>
                                  </p:childTnLst>
                                </p:cTn>
                              </p:par>
                              <p:par>
                                <p:cTn id="40" presetID="35" presetClass="path" presetSubtype="0" accel="50000" decel="50000" fill="hold" nodeType="withEffect">
                                  <p:stCondLst>
                                    <p:cond delay="0"/>
                                  </p:stCondLst>
                                  <p:childTnLst>
                                    <p:animMotion origin="layout" path="M 6.25E-7 -1.11111E-6 L 0.31575 -1.11111E-6 " pathEditMode="relative" rAng="0" ptsTypes="AA">
                                      <p:cBhvr>
                                        <p:cTn id="41" dur="2000" spd="-100000" fill="hold"/>
                                        <p:tgtEl>
                                          <p:spTgt spid="33"/>
                                        </p:tgtEl>
                                        <p:attrNameLst>
                                          <p:attrName>ppt_x</p:attrName>
                                          <p:attrName>ppt_y</p:attrName>
                                        </p:attrNameLst>
                                      </p:cBhvr>
                                      <p:rCtr x="15781" y="0"/>
                                    </p:animMotion>
                                  </p:childTnLst>
                                </p:cTn>
                              </p:par>
                              <p:par>
                                <p:cTn id="42" presetID="53" presetClass="entr" presetSubtype="16"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 calcmode="lin" valueType="num">
                                      <p:cBhvr>
                                        <p:cTn id="44" dur="1000" fill="hold"/>
                                        <p:tgtEl>
                                          <p:spTgt spid="38"/>
                                        </p:tgtEl>
                                        <p:attrNameLst>
                                          <p:attrName>ppt_w</p:attrName>
                                        </p:attrNameLst>
                                      </p:cBhvr>
                                      <p:tavLst>
                                        <p:tav tm="0">
                                          <p:val>
                                            <p:fltVal val="0"/>
                                          </p:val>
                                        </p:tav>
                                        <p:tav tm="100000">
                                          <p:val>
                                            <p:strVal val="#ppt_w"/>
                                          </p:val>
                                        </p:tav>
                                      </p:tavLst>
                                    </p:anim>
                                    <p:anim calcmode="lin" valueType="num">
                                      <p:cBhvr>
                                        <p:cTn id="45" dur="1000" fill="hold"/>
                                        <p:tgtEl>
                                          <p:spTgt spid="38"/>
                                        </p:tgtEl>
                                        <p:attrNameLst>
                                          <p:attrName>ppt_h</p:attrName>
                                        </p:attrNameLst>
                                      </p:cBhvr>
                                      <p:tavLst>
                                        <p:tav tm="0">
                                          <p:val>
                                            <p:fltVal val="0"/>
                                          </p:val>
                                        </p:tav>
                                        <p:tav tm="100000">
                                          <p:val>
                                            <p:strVal val="#ppt_h"/>
                                          </p:val>
                                        </p:tav>
                                      </p:tavLst>
                                    </p:anim>
                                    <p:animEffect transition="in" filter="fade">
                                      <p:cBhvr>
                                        <p:cTn id="46" dur="1000"/>
                                        <p:tgtEl>
                                          <p:spTgt spid="38"/>
                                        </p:tgtEl>
                                      </p:cBhvr>
                                    </p:animEffect>
                                  </p:childTnLst>
                                </p:cTn>
                              </p:par>
                              <p:par>
                                <p:cTn id="47" presetID="35" presetClass="path" presetSubtype="0" accel="50000" decel="50000" fill="hold" grpId="1" nodeType="withEffect">
                                  <p:stCondLst>
                                    <p:cond delay="0"/>
                                  </p:stCondLst>
                                  <p:childTnLst>
                                    <p:animMotion origin="layout" path="M 4.79167E-6 -2.59259E-6 L 0.31575 -2.59259E-6 " pathEditMode="relative" rAng="0" ptsTypes="AA">
                                      <p:cBhvr>
                                        <p:cTn id="48" dur="2000" spd="-100000" fill="hold"/>
                                        <p:tgtEl>
                                          <p:spTgt spid="38"/>
                                        </p:tgtEl>
                                        <p:attrNameLst>
                                          <p:attrName>ppt_x</p:attrName>
                                          <p:attrName>ppt_y</p:attrName>
                                        </p:attrNameLst>
                                      </p:cBhvr>
                                      <p:rCtr x="15781" y="0"/>
                                    </p:animMotion>
                                  </p:childTnLst>
                                </p:cTn>
                              </p:par>
                            </p:childTnLst>
                          </p:cTn>
                        </p:par>
                        <p:par>
                          <p:cTn id="49" fill="hold">
                            <p:stCondLst>
                              <p:cond delay="4000"/>
                            </p:stCondLst>
                            <p:childTnLst>
                              <p:par>
                                <p:cTn id="50" presetID="53" presetClass="entr" presetSubtype="16" fill="hold" nodeType="afterEffect">
                                  <p:stCondLst>
                                    <p:cond delay="0"/>
                                  </p:stCondLst>
                                  <p:childTnLst>
                                    <p:set>
                                      <p:cBhvr>
                                        <p:cTn id="51" dur="1" fill="hold">
                                          <p:stCondLst>
                                            <p:cond delay="0"/>
                                          </p:stCondLst>
                                        </p:cTn>
                                        <p:tgtEl>
                                          <p:spTgt spid="40"/>
                                        </p:tgtEl>
                                        <p:attrNameLst>
                                          <p:attrName>style.visibility</p:attrName>
                                        </p:attrNameLst>
                                      </p:cBhvr>
                                      <p:to>
                                        <p:strVal val="visible"/>
                                      </p:to>
                                    </p:set>
                                    <p:anim calcmode="lin" valueType="num">
                                      <p:cBhvr>
                                        <p:cTn id="52" dur="1000" fill="hold"/>
                                        <p:tgtEl>
                                          <p:spTgt spid="40"/>
                                        </p:tgtEl>
                                        <p:attrNameLst>
                                          <p:attrName>ppt_w</p:attrName>
                                        </p:attrNameLst>
                                      </p:cBhvr>
                                      <p:tavLst>
                                        <p:tav tm="0">
                                          <p:val>
                                            <p:fltVal val="0"/>
                                          </p:val>
                                        </p:tav>
                                        <p:tav tm="100000">
                                          <p:val>
                                            <p:strVal val="#ppt_w"/>
                                          </p:val>
                                        </p:tav>
                                      </p:tavLst>
                                    </p:anim>
                                    <p:anim calcmode="lin" valueType="num">
                                      <p:cBhvr>
                                        <p:cTn id="53" dur="1000" fill="hold"/>
                                        <p:tgtEl>
                                          <p:spTgt spid="40"/>
                                        </p:tgtEl>
                                        <p:attrNameLst>
                                          <p:attrName>ppt_h</p:attrName>
                                        </p:attrNameLst>
                                      </p:cBhvr>
                                      <p:tavLst>
                                        <p:tav tm="0">
                                          <p:val>
                                            <p:fltVal val="0"/>
                                          </p:val>
                                        </p:tav>
                                        <p:tav tm="100000">
                                          <p:val>
                                            <p:strVal val="#ppt_h"/>
                                          </p:val>
                                        </p:tav>
                                      </p:tavLst>
                                    </p:anim>
                                    <p:animEffect transition="in" filter="fade">
                                      <p:cBhvr>
                                        <p:cTn id="54" dur="1000"/>
                                        <p:tgtEl>
                                          <p:spTgt spid="40"/>
                                        </p:tgtEl>
                                      </p:cBhvr>
                                    </p:animEffect>
                                  </p:childTnLst>
                                </p:cTn>
                              </p:par>
                              <p:par>
                                <p:cTn id="55" presetID="35" presetClass="path" presetSubtype="0" accel="50000" decel="50000" fill="hold" nodeType="withEffect">
                                  <p:stCondLst>
                                    <p:cond delay="0"/>
                                  </p:stCondLst>
                                  <p:childTnLst>
                                    <p:animMotion origin="layout" path="M -1.04167E-6 -2.96296E-6 L 0.31576 -2.96296E-6 " pathEditMode="relative" rAng="0" ptsTypes="AA">
                                      <p:cBhvr>
                                        <p:cTn id="56" dur="2000" spd="-100000" fill="hold"/>
                                        <p:tgtEl>
                                          <p:spTgt spid="40"/>
                                        </p:tgtEl>
                                        <p:attrNameLst>
                                          <p:attrName>ppt_x</p:attrName>
                                          <p:attrName>ppt_y</p:attrName>
                                        </p:attrNameLst>
                                      </p:cBhvr>
                                      <p:rCtr x="15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1" grpId="0"/>
      <p:bldP spid="31" grpId="1"/>
      <p:bldP spid="32" grpId="0" animBg="1"/>
      <p:bldP spid="38" grpId="0"/>
      <p:bldP spid="38" grpId="1"/>
    </p:bldLst>
  </p:timing>
</p:sld>
</file>

<file path=ppt/tags/tag1.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2.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3.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4.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5.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6.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7.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8.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9.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0.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1.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2.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3.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4.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5.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6.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7.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8.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19.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20.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21.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22.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23.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24.xml><?xml version="1.0" encoding="utf-8"?>
<p:tagLst xmlns:p="http://schemas.openxmlformats.org/presentationml/2006/main">
  <p:tag name="KSO_WM_DIAGRAM_VIRTUALLY_FRAME" val="{&quot;height&quot;:234.0656692913386,&quot;left&quot;:361.0843307086614,&quot;top&quot;:121.7575590551181,&quot;width&quot;:455.793779527559}"/>
</p:tagLst>
</file>

<file path=ppt/tags/tag25.xml><?xml version="1.0" encoding="utf-8"?>
<p:tagLst xmlns:p="http://schemas.openxmlformats.org/presentationml/2006/main">
  <p:tag name="ISPRING_PRESENTATION_TITLE" val="PowerPoint 演示文稿"/>
  <p:tag name="commondata" val="eyJoZGlkIjoiNTRjODQ1YWY1MDljOGMwODlkOGRjNmEyZGY2ZWI2YjUifQ=="/>
</p:tagLst>
</file>

<file path=ppt/theme/theme1.xml><?xml version="1.0" encoding="utf-8"?>
<a:theme xmlns:a="http://schemas.openxmlformats.org/drawingml/2006/main" name="第一PPT，www.1ppt.com">
  <a:themeElements>
    <a:clrScheme name="自定义 3">
      <a:dk1>
        <a:sysClr val="windowText" lastClr="000000"/>
      </a:dk1>
      <a:lt1>
        <a:sysClr val="window" lastClr="FFFFFF"/>
      </a:lt1>
      <a:dk2>
        <a:srgbClr val="BE0000"/>
      </a:dk2>
      <a:lt2>
        <a:srgbClr val="E7E6E6"/>
      </a:lt2>
      <a:accent1>
        <a:srgbClr val="BE0000"/>
      </a:accent1>
      <a:accent2>
        <a:srgbClr val="ED7D31"/>
      </a:accent2>
      <a:accent3>
        <a:srgbClr val="D20000"/>
      </a:accent3>
      <a:accent4>
        <a:srgbClr val="FFC000"/>
      </a:accent4>
      <a:accent5>
        <a:srgbClr val="4472C4"/>
      </a:accent5>
      <a:accent6>
        <a:srgbClr val="70AD47"/>
      </a:accent6>
      <a:hlink>
        <a:srgbClr val="0563C1"/>
      </a:hlink>
      <a:folHlink>
        <a:srgbClr val="954F72"/>
      </a:folHlink>
    </a:clrScheme>
    <a:fontScheme name="31y2jr50">
      <a:majorFont>
        <a:latin typeface="Microsoft YaHei"/>
        <a:ea typeface="字魂35号-经典雅黑"/>
        <a:cs typeface=""/>
      </a:majorFont>
      <a:minorFont>
        <a:latin typeface="Microsoft YaHei"/>
        <a:ea typeface="字魂35号-经典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1578</Words>
  <Application>WPS 演示</Application>
  <PresentationFormat>自定义</PresentationFormat>
  <Paragraphs>104</Paragraphs>
  <Slides>16</Slides>
  <Notes>41</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16</vt:i4>
      </vt:variant>
    </vt:vector>
  </HeadingPairs>
  <TitlesOfParts>
    <vt:vector size="43" baseType="lpstr">
      <vt:lpstr>Arial</vt:lpstr>
      <vt:lpstr>宋体</vt:lpstr>
      <vt:lpstr>Wingdings</vt:lpstr>
      <vt:lpstr>Calibri</vt:lpstr>
      <vt:lpstr>华文中宋</vt:lpstr>
      <vt:lpstr>字体视界-NEW魏碑体</vt:lpstr>
      <vt:lpstr>方正苏新诗柳楷简体-yolan</vt:lpstr>
      <vt:lpstr>Calibri</vt:lpstr>
      <vt:lpstr>微软雅黑</vt:lpstr>
      <vt:lpstr>方正兰亭黑_GBK</vt:lpstr>
      <vt:lpstr>Open Sans</vt:lpstr>
      <vt:lpstr>冬青黑体简体中文 W3</vt:lpstr>
      <vt:lpstr>仿宋_GB2312</vt:lpstr>
      <vt:lpstr>Arial</vt:lpstr>
      <vt:lpstr>字魂35号-经典雅黑</vt:lpstr>
      <vt:lpstr>方正兰亭粗黑_GBK</vt:lpstr>
      <vt:lpstr>Arial Unicode MS</vt:lpstr>
      <vt:lpstr>黑体</vt:lpstr>
      <vt:lpstr>Impact</vt:lpstr>
      <vt:lpstr>方正兰亭中黑_GBK</vt:lpstr>
      <vt:lpstr>Noto Sans S Chinese Medium</vt:lpstr>
      <vt:lpstr>Segoe Print</vt:lpstr>
      <vt:lpstr>仿宋</vt:lpstr>
      <vt:lpstr>字魂35号-经典雅黑</vt:lpstr>
      <vt:lpstr>华文楷体</vt:lpstr>
      <vt:lpstr>汉仪中楷简</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不忘初心继续前进</dc:title>
  <dc:creator>第一PPT</dc:creator>
  <cp:keywords>www.1ppt.com</cp:keywords>
  <dc:description>www.1ppt.com</dc:description>
  <cp:lastModifiedBy>执毫泼墨染青城</cp:lastModifiedBy>
  <cp:revision>42</cp:revision>
  <dcterms:created xsi:type="dcterms:W3CDTF">2019-06-14T06:36:00Z</dcterms:created>
  <dcterms:modified xsi:type="dcterms:W3CDTF">2024-09-18T15:24:12Z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1482BB65A7C34E2EACFB27F6A7808CE1_12</vt:lpwstr>
  </property>
  <property fmtid="{D5CDD505-2E9C-101B-9397-08002B2CF9AE}" pid="3" name="KSOProductBuildVer">
    <vt:lpwstr>2052-12.1.0.18240</vt:lpwstr>
  </property>
</Properties>
</file>